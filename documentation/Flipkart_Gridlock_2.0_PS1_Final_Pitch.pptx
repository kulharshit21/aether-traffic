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712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shift: from reactive patrol to predictive, prescriptive AI dispatch.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Our system is engineered to close all three simultaneously.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one-paragraph pitch. Everything downstream proves this claim with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each building on the last. Detection alone is descriptive — physics + forecasting + optimization make it prescriptive.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HDBSCAN advantage: no need to guess cluster count upfront, adapts to Bengaluru's mixed density automatically.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scientific differentiator. Most teams will count violations. We measured physical capacity loss.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chart on the right shows which features actually drive the forecast — full transparency for BTP officers.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nuance: rank ≠ raw severity sort. This is the optimizer outsmarting naive ranking — frame as a strength, not an inconsistency.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5 zones eliminating 10.5% of city-wide impact is the single number to remember.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The synchronized replay slider is the moment that separates us from a static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differentiation slide before the ask/close.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 spatial DB → AI engine (HDBSCAN + physics + XGBoost) → knapsack optimizer → command center dashboard.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10.5%-from-5-zones number. That's the one stat judges should remember.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1D4ED8"/>
          </a:solidFill>
          <a:ln/>
        </p:spPr>
      </p:sp>
      <p:sp>
        <p:nvSpPr>
          <p:cNvPr id="3" name="Text 1"/>
          <p:cNvSpPr/>
          <p:nvPr/>
        </p:nvSpPr>
        <p:spPr>
          <a:xfrm>
            <a:off x="548640" y="822960"/>
            <a:ext cx="8229600" cy="274320"/>
          </a:xfrm>
          <a:prstGeom prst="rect">
            <a:avLst/>
          </a:prstGeom>
          <a:noFill/>
          <a:ln/>
        </p:spPr>
        <p:txBody>
          <a:bodyPr wrap="square" rtlCol="0" anchor="ctr"/>
          <a:lstStyle/>
          <a:p>
            <a:pPr marL="0" indent="0">
              <a:buNone/>
            </a:pPr>
            <a:r>
              <a:rPr lang="en-US" sz="1100" b="1" kern="0" spc="400" dirty="0">
                <a:solidFill>
                  <a:srgbClr val="1D4ED8"/>
                </a:solidFill>
                <a:latin typeface="Calibri" pitchFamily="34" charset="0"/>
                <a:ea typeface="Calibri" pitchFamily="34" charset="-122"/>
                <a:cs typeface="Calibri" pitchFamily="34" charset="-120"/>
              </a:rPr>
              <a:t>FLIPKART GRIDLOCK 2.0  ·  PROBLEM STATEMENT 1</a:t>
            </a:r>
            <a:endParaRPr lang="en-US" sz="1100" dirty="0"/>
          </a:p>
        </p:txBody>
      </p:sp>
      <p:sp>
        <p:nvSpPr>
          <p:cNvPr id="4" name="Text 2"/>
          <p:cNvSpPr/>
          <p:nvPr/>
        </p:nvSpPr>
        <p:spPr>
          <a:xfrm>
            <a:off x="548640" y="1234440"/>
            <a:ext cx="8229600" cy="1737360"/>
          </a:xfrm>
          <a:prstGeom prst="rect">
            <a:avLst/>
          </a:prstGeom>
          <a:noFill/>
          <a:ln/>
        </p:spPr>
        <p:txBody>
          <a:bodyPr wrap="square" rtlCol="0" anchor="ctr"/>
          <a:lstStyle/>
          <a:p>
            <a:pPr marL="0" indent="0">
              <a:buNone/>
            </a:pPr>
            <a:r>
              <a:rPr lang="en-US" sz="3800" b="1" dirty="0">
                <a:solidFill>
                  <a:srgbClr val="0F172A"/>
                </a:solidFill>
                <a:latin typeface="Cambria" pitchFamily="34" charset="0"/>
                <a:ea typeface="Cambria" pitchFamily="34" charset="-122"/>
                <a:cs typeface="Cambria" pitchFamily="34" charset="-120"/>
              </a:rPr>
              <a:t>AI-Driven Spatial Intelligence</a:t>
            </a:r>
            <a:endParaRPr lang="en-US" sz="3800" dirty="0"/>
          </a:p>
          <a:p>
            <a:pPr marL="0" indent="0">
              <a:buNone/>
            </a:pPr>
            <a:r>
              <a:rPr lang="en-US" sz="3800" b="1" dirty="0">
                <a:solidFill>
                  <a:srgbClr val="0F172A"/>
                </a:solidFill>
                <a:latin typeface="Cambria" pitchFamily="34" charset="0"/>
                <a:ea typeface="Cambria" pitchFamily="34" charset="-122"/>
                <a:cs typeface="Cambria" pitchFamily="34" charset="-120"/>
              </a:rPr>
              <a:t>for Parking-Induced Congestion</a:t>
            </a:r>
            <a:endParaRPr lang="en-US" sz="3800" dirty="0"/>
          </a:p>
        </p:txBody>
      </p:sp>
      <p:sp>
        <p:nvSpPr>
          <p:cNvPr id="5" name="Text 3"/>
          <p:cNvSpPr/>
          <p:nvPr/>
        </p:nvSpPr>
        <p:spPr>
          <a:xfrm>
            <a:off x="548640" y="2880360"/>
            <a:ext cx="8229600" cy="411480"/>
          </a:xfrm>
          <a:prstGeom prst="rect">
            <a:avLst/>
          </a:prstGeom>
          <a:noFill/>
          <a:ln/>
        </p:spPr>
        <p:txBody>
          <a:bodyPr wrap="square" rtlCol="0" anchor="ctr"/>
          <a:lstStyle/>
          <a:p>
            <a:pPr marL="0" indent="0">
              <a:buNone/>
            </a:pPr>
            <a:r>
              <a:rPr lang="en-US" sz="1600" i="1" dirty="0">
                <a:solidFill>
                  <a:srgbClr val="0891B2"/>
                </a:solidFill>
                <a:latin typeface="Calibri" pitchFamily="34" charset="0"/>
                <a:ea typeface="Calibri" pitchFamily="34" charset="-122"/>
                <a:cs typeface="Calibri" pitchFamily="34" charset="-120"/>
              </a:rPr>
              <a:t>From Reactive Ticketing to Proactive Congestion Prevention</a:t>
            </a:r>
            <a:endParaRPr lang="en-US" sz="1600" dirty="0"/>
          </a:p>
        </p:txBody>
      </p:sp>
      <p:sp>
        <p:nvSpPr>
          <p:cNvPr id="6" name="Shape 4"/>
          <p:cNvSpPr/>
          <p:nvPr/>
        </p:nvSpPr>
        <p:spPr>
          <a:xfrm>
            <a:off x="548640" y="3429000"/>
            <a:ext cx="2286000" cy="0"/>
          </a:xfrm>
          <a:prstGeom prst="line">
            <a:avLst/>
          </a:prstGeom>
          <a:noFill/>
          <a:ln w="25400">
            <a:solidFill>
              <a:srgbClr val="1D4ED8"/>
            </a:solidFill>
            <a:prstDash val="solid"/>
          </a:ln>
        </p:spPr>
      </p:sp>
      <p:sp>
        <p:nvSpPr>
          <p:cNvPr id="7" name="Text 5"/>
          <p:cNvSpPr/>
          <p:nvPr/>
        </p:nvSpPr>
        <p:spPr>
          <a:xfrm>
            <a:off x="548640" y="3566160"/>
            <a:ext cx="822960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Detect (HDBSCAN)   ·   Quantify (Physics + XGBoost)   ·   Prescribe (Knapsack Optimization)</a:t>
            </a:r>
            <a:endParaRPr lang="en-US" sz="1200" dirty="0"/>
          </a:p>
        </p:txBody>
      </p:sp>
      <p:sp>
        <p:nvSpPr>
          <p:cNvPr id="8" name="Text 6"/>
          <p:cNvSpPr/>
          <p:nvPr/>
        </p:nvSpPr>
        <p:spPr>
          <a:xfrm>
            <a:off x="548640" y="4572000"/>
            <a:ext cx="82296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Bengaluru Traffic Police  ·  298,277 violation records  ·  Jan–May dataset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PROBLEM STATEMENT</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Why Parking Enforcement Fails Today</a:t>
            </a:r>
            <a:endParaRPr lang="en-US" sz="2600" dirty="0"/>
          </a:p>
        </p:txBody>
      </p:sp>
      <p:sp>
        <p:nvSpPr>
          <p:cNvPr id="4" name="Shape 2"/>
          <p:cNvSpPr/>
          <p:nvPr/>
        </p:nvSpPr>
        <p:spPr>
          <a:xfrm>
            <a:off x="365760" y="1234440"/>
            <a:ext cx="8412480" cy="1024128"/>
          </a:xfrm>
          <a:prstGeom prst="roundRect">
            <a:avLst>
              <a:gd name="adj" fmla="val 6250"/>
            </a:avLst>
          </a:prstGeom>
          <a:solidFill>
            <a:srgbClr val="F8FAFC"/>
          </a:solidFill>
          <a:ln w="12700">
            <a:solidFill>
              <a:srgbClr val="E2E8F0"/>
            </a:solidFill>
            <a:prstDash val="solid"/>
          </a:ln>
        </p:spPr>
      </p:sp>
      <p:sp>
        <p:nvSpPr>
          <p:cNvPr id="5" name="Shape 3"/>
          <p:cNvSpPr/>
          <p:nvPr/>
        </p:nvSpPr>
        <p:spPr>
          <a:xfrm>
            <a:off x="548640" y="1472184"/>
            <a:ext cx="548640" cy="548640"/>
          </a:xfrm>
          <a:prstGeom prst="ellipse">
            <a:avLst/>
          </a:prstGeom>
          <a:solidFill>
            <a:srgbClr val="DBEAFE"/>
          </a:solidFill>
          <a:ln/>
        </p:spPr>
      </p:sp>
      <p:sp>
        <p:nvSpPr>
          <p:cNvPr id="6" name="Text 4"/>
          <p:cNvSpPr/>
          <p:nvPr/>
        </p:nvSpPr>
        <p:spPr>
          <a:xfrm>
            <a:off x="548640" y="1472184"/>
            <a:ext cx="548640" cy="548640"/>
          </a:xfrm>
          <a:prstGeom prst="rect">
            <a:avLst/>
          </a:prstGeom>
          <a:noFill/>
          <a:ln/>
        </p:spPr>
        <p:txBody>
          <a:bodyPr wrap="square" rtlCol="0" anchor="ctr"/>
          <a:lstStyle/>
          <a:p>
            <a:pPr marL="0" indent="0" algn="ctr">
              <a:buNone/>
            </a:pPr>
            <a:r>
              <a:rPr lang="en-US" sz="2200" dirty="0">
                <a:solidFill>
                  <a:srgbClr val="1D4ED8"/>
                </a:solidFill>
              </a:rPr>
              <a:t>◷</a:t>
            </a:r>
            <a:endParaRPr lang="en-US" sz="2200" dirty="0"/>
          </a:p>
        </p:txBody>
      </p:sp>
      <p:sp>
        <p:nvSpPr>
          <p:cNvPr id="7" name="Text 5"/>
          <p:cNvSpPr/>
          <p:nvPr/>
        </p:nvSpPr>
        <p:spPr>
          <a:xfrm>
            <a:off x="1234440" y="1362456"/>
            <a:ext cx="7315200" cy="365760"/>
          </a:xfrm>
          <a:prstGeom prst="rect">
            <a:avLst/>
          </a:prstGeom>
          <a:noFill/>
          <a:ln/>
        </p:spPr>
        <p:txBody>
          <a:bodyPr wrap="square"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Reactive, Not Predictive</a:t>
            </a:r>
            <a:endParaRPr lang="en-US" sz="1500" dirty="0"/>
          </a:p>
        </p:txBody>
      </p:sp>
      <p:sp>
        <p:nvSpPr>
          <p:cNvPr id="8" name="Text 6"/>
          <p:cNvSpPr/>
          <p:nvPr/>
        </p:nvSpPr>
        <p:spPr>
          <a:xfrm>
            <a:off x="1234440" y="1737360"/>
            <a:ext cx="7315200" cy="45720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Officers patrol blind. Deployment happens after congestion has already formed — no advance warning system exists.</a:t>
            </a:r>
            <a:endParaRPr lang="en-US" sz="1150" dirty="0"/>
          </a:p>
        </p:txBody>
      </p:sp>
      <p:sp>
        <p:nvSpPr>
          <p:cNvPr id="9" name="Shape 7"/>
          <p:cNvSpPr/>
          <p:nvPr/>
        </p:nvSpPr>
        <p:spPr>
          <a:xfrm>
            <a:off x="365760" y="2423160"/>
            <a:ext cx="8412480" cy="1024128"/>
          </a:xfrm>
          <a:prstGeom prst="roundRect">
            <a:avLst>
              <a:gd name="adj" fmla="val 6250"/>
            </a:avLst>
          </a:prstGeom>
          <a:solidFill>
            <a:srgbClr val="F8FAFC"/>
          </a:solidFill>
          <a:ln w="12700">
            <a:solidFill>
              <a:srgbClr val="E2E8F0"/>
            </a:solidFill>
            <a:prstDash val="solid"/>
          </a:ln>
        </p:spPr>
      </p:sp>
      <p:sp>
        <p:nvSpPr>
          <p:cNvPr id="10" name="Shape 8"/>
          <p:cNvSpPr/>
          <p:nvPr/>
        </p:nvSpPr>
        <p:spPr>
          <a:xfrm>
            <a:off x="548640" y="2660904"/>
            <a:ext cx="548640" cy="548640"/>
          </a:xfrm>
          <a:prstGeom prst="ellipse">
            <a:avLst/>
          </a:prstGeom>
          <a:solidFill>
            <a:srgbClr val="DBEAFE"/>
          </a:solidFill>
          <a:ln/>
        </p:spPr>
      </p:sp>
      <p:sp>
        <p:nvSpPr>
          <p:cNvPr id="11" name="Text 9"/>
          <p:cNvSpPr/>
          <p:nvPr/>
        </p:nvSpPr>
        <p:spPr>
          <a:xfrm>
            <a:off x="548640" y="2660904"/>
            <a:ext cx="548640" cy="548640"/>
          </a:xfrm>
          <a:prstGeom prst="rect">
            <a:avLst/>
          </a:prstGeom>
          <a:noFill/>
          <a:ln/>
        </p:spPr>
        <p:txBody>
          <a:bodyPr wrap="square" rtlCol="0" anchor="ctr"/>
          <a:lstStyle/>
          <a:p>
            <a:pPr marL="0" indent="0" algn="ctr">
              <a:buNone/>
            </a:pPr>
            <a:r>
              <a:rPr lang="en-US" sz="2200" dirty="0">
                <a:solidFill>
                  <a:srgbClr val="1D4ED8"/>
                </a:solidFill>
              </a:rPr>
              <a:t>◎</a:t>
            </a:r>
            <a:endParaRPr lang="en-US" sz="2200" dirty="0"/>
          </a:p>
        </p:txBody>
      </p:sp>
      <p:sp>
        <p:nvSpPr>
          <p:cNvPr id="12" name="Text 10"/>
          <p:cNvSpPr/>
          <p:nvPr/>
        </p:nvSpPr>
        <p:spPr>
          <a:xfrm>
            <a:off x="1234440" y="2551176"/>
            <a:ext cx="7315200" cy="365760"/>
          </a:xfrm>
          <a:prstGeom prst="rect">
            <a:avLst/>
          </a:prstGeom>
          <a:noFill/>
          <a:ln/>
        </p:spPr>
        <p:txBody>
          <a:bodyPr wrap="square"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No Visibility on Impact</a:t>
            </a:r>
            <a:endParaRPr lang="en-US" sz="1500" dirty="0"/>
          </a:p>
        </p:txBody>
      </p:sp>
      <p:sp>
        <p:nvSpPr>
          <p:cNvPr id="13" name="Text 11"/>
          <p:cNvSpPr/>
          <p:nvPr/>
        </p:nvSpPr>
        <p:spPr>
          <a:xfrm>
            <a:off x="1234440" y="2926080"/>
            <a:ext cx="7315200" cy="45720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No tool links a parked vehicle to the actual traffic flow degradation it causes downstream.</a:t>
            </a:r>
            <a:endParaRPr lang="en-US" sz="1150" dirty="0"/>
          </a:p>
        </p:txBody>
      </p:sp>
      <p:sp>
        <p:nvSpPr>
          <p:cNvPr id="14" name="Shape 12"/>
          <p:cNvSpPr/>
          <p:nvPr/>
        </p:nvSpPr>
        <p:spPr>
          <a:xfrm>
            <a:off x="365760" y="3611880"/>
            <a:ext cx="8412480" cy="1024128"/>
          </a:xfrm>
          <a:prstGeom prst="roundRect">
            <a:avLst>
              <a:gd name="adj" fmla="val 6250"/>
            </a:avLst>
          </a:prstGeom>
          <a:solidFill>
            <a:srgbClr val="F8FAFC"/>
          </a:solidFill>
          <a:ln w="12700">
            <a:solidFill>
              <a:srgbClr val="E2E8F0"/>
            </a:solidFill>
            <a:prstDash val="solid"/>
          </a:ln>
        </p:spPr>
      </p:sp>
      <p:sp>
        <p:nvSpPr>
          <p:cNvPr id="15" name="Shape 13"/>
          <p:cNvSpPr/>
          <p:nvPr/>
        </p:nvSpPr>
        <p:spPr>
          <a:xfrm>
            <a:off x="548640" y="3849624"/>
            <a:ext cx="548640" cy="548640"/>
          </a:xfrm>
          <a:prstGeom prst="ellipse">
            <a:avLst/>
          </a:prstGeom>
          <a:solidFill>
            <a:srgbClr val="DBEAFE"/>
          </a:solidFill>
          <a:ln/>
        </p:spPr>
      </p:sp>
      <p:sp>
        <p:nvSpPr>
          <p:cNvPr id="16" name="Text 14"/>
          <p:cNvSpPr/>
          <p:nvPr/>
        </p:nvSpPr>
        <p:spPr>
          <a:xfrm>
            <a:off x="548640" y="3849624"/>
            <a:ext cx="548640" cy="548640"/>
          </a:xfrm>
          <a:prstGeom prst="rect">
            <a:avLst/>
          </a:prstGeom>
          <a:noFill/>
          <a:ln/>
        </p:spPr>
        <p:txBody>
          <a:bodyPr wrap="square" rtlCol="0" anchor="ctr"/>
          <a:lstStyle/>
          <a:p>
            <a:pPr marL="0" indent="0" algn="ctr">
              <a:buNone/>
            </a:pPr>
            <a:r>
              <a:rPr lang="en-US" sz="2200" dirty="0">
                <a:solidFill>
                  <a:srgbClr val="1D4ED8"/>
                </a:solidFill>
              </a:rPr>
              <a:t>▦</a:t>
            </a:r>
            <a:endParaRPr lang="en-US" sz="2200" dirty="0"/>
          </a:p>
        </p:txBody>
      </p:sp>
      <p:sp>
        <p:nvSpPr>
          <p:cNvPr id="17" name="Text 15"/>
          <p:cNvSpPr/>
          <p:nvPr/>
        </p:nvSpPr>
        <p:spPr>
          <a:xfrm>
            <a:off x="1234440" y="3739896"/>
            <a:ext cx="7315200" cy="365760"/>
          </a:xfrm>
          <a:prstGeom prst="rect">
            <a:avLst/>
          </a:prstGeom>
          <a:noFill/>
          <a:ln/>
        </p:spPr>
        <p:txBody>
          <a:bodyPr wrap="square"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No Prioritization Logic</a:t>
            </a:r>
            <a:endParaRPr lang="en-US" sz="1500" dirty="0"/>
          </a:p>
        </p:txBody>
      </p:sp>
      <p:sp>
        <p:nvSpPr>
          <p:cNvPr id="18" name="Text 16"/>
          <p:cNvSpPr/>
          <p:nvPr/>
        </p:nvSpPr>
        <p:spPr>
          <a:xfrm>
            <a:off x="1234440" y="4114800"/>
            <a:ext cx="7315200" cy="45720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Every zone gets equal attention. Limited tow trucks and officers aren't allocated to where they matter most.</a:t>
            </a:r>
            <a:endParaRPr lang="en-US" sz="1150" dirty="0"/>
          </a:p>
        </p:txBody>
      </p:sp>
      <p:sp>
        <p:nvSpPr>
          <p:cNvPr id="19" name="Text 17"/>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20" name="Text 18"/>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SOLUTION OVERVIEW</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An End-to-End AI Dispatch System</a:t>
            </a:r>
            <a:endParaRPr lang="en-US" sz="2600" dirty="0"/>
          </a:p>
        </p:txBody>
      </p:sp>
      <p:sp>
        <p:nvSpPr>
          <p:cNvPr id="4" name="Text 2"/>
          <p:cNvSpPr/>
          <p:nvPr/>
        </p:nvSpPr>
        <p:spPr>
          <a:xfrm>
            <a:off x="365760" y="1280160"/>
            <a:ext cx="8412480" cy="1371600"/>
          </a:xfrm>
          <a:prstGeom prst="rect">
            <a:avLst/>
          </a:prstGeom>
          <a:noFill/>
          <a:ln/>
        </p:spPr>
        <p:txBody>
          <a:bodyPr wrap="square" rtlCol="0" anchor="ctr"/>
          <a:lstStyle/>
          <a:p>
            <a:pPr marL="0" indent="0">
              <a:lnSpc>
                <a:spcPct val="125000"/>
              </a:lnSpc>
              <a:buNone/>
            </a:pPr>
            <a:r>
              <a:rPr lang="en-US" sz="1400" dirty="0">
                <a:solidFill>
                  <a:srgbClr val="0F172A"/>
                </a:solidFill>
                <a:latin typeface="Calibri" pitchFamily="34" charset="0"/>
                <a:ea typeface="Calibri" pitchFamily="34" charset="-122"/>
                <a:cs typeface="Calibri" pitchFamily="34" charset="-120"/>
              </a:rPr>
              <a:t>We built a system that processes nearly 300,000 historical traffic violations to automatically detect localized parking hotspots, calculate the actual physical traffic jam (shockwave) caused by parked vehicles, and predict when congestion will peak next. It then acts as a digital dispatcher — generating an optimized schedule that tells police exactly which zones to send limited tow trucks to, in order to maximize city-wide traffic flow recovery.</a:t>
            </a:r>
            <a:endParaRPr lang="en-US" sz="1400" dirty="0"/>
          </a:p>
        </p:txBody>
      </p:sp>
      <p:sp>
        <p:nvSpPr>
          <p:cNvPr id="5" name="Shape 3"/>
          <p:cNvSpPr/>
          <p:nvPr/>
        </p:nvSpPr>
        <p:spPr>
          <a:xfrm>
            <a:off x="365760" y="2880360"/>
            <a:ext cx="2697480" cy="1691640"/>
          </a:xfrm>
          <a:prstGeom prst="roundRect">
            <a:avLst>
              <a:gd name="adj" fmla="val 4324"/>
            </a:avLst>
          </a:prstGeom>
          <a:solidFill>
            <a:srgbClr val="F8FAFC"/>
          </a:solidFill>
          <a:ln w="15875">
            <a:solidFill>
              <a:srgbClr val="1D4ED8"/>
            </a:solidFill>
            <a:prstDash val="solid"/>
          </a:ln>
        </p:spPr>
      </p:sp>
      <p:sp>
        <p:nvSpPr>
          <p:cNvPr id="6" name="Text 4"/>
          <p:cNvSpPr/>
          <p:nvPr/>
        </p:nvSpPr>
        <p:spPr>
          <a:xfrm>
            <a:off x="365760" y="3035808"/>
            <a:ext cx="2697480" cy="502920"/>
          </a:xfrm>
          <a:prstGeom prst="rect">
            <a:avLst/>
          </a:prstGeom>
          <a:noFill/>
          <a:ln/>
        </p:spPr>
        <p:txBody>
          <a:bodyPr wrap="square" rtlCol="0" anchor="ctr"/>
          <a:lstStyle/>
          <a:p>
            <a:pPr marL="0" indent="0" algn="ctr">
              <a:buNone/>
            </a:pPr>
            <a:r>
              <a:rPr lang="en-US" sz="2600" dirty="0">
                <a:solidFill>
                  <a:srgbClr val="1D4ED8"/>
                </a:solidFill>
              </a:rPr>
              <a:t>◎</a:t>
            </a:r>
            <a:endParaRPr lang="en-US" sz="2600" dirty="0"/>
          </a:p>
        </p:txBody>
      </p:sp>
      <p:sp>
        <p:nvSpPr>
          <p:cNvPr id="7" name="Text 5"/>
          <p:cNvSpPr/>
          <p:nvPr/>
        </p:nvSpPr>
        <p:spPr>
          <a:xfrm>
            <a:off x="365760" y="3584448"/>
            <a:ext cx="2697480" cy="365760"/>
          </a:xfrm>
          <a:prstGeom prst="rect">
            <a:avLst/>
          </a:prstGeom>
          <a:noFill/>
          <a:ln/>
        </p:spPr>
        <p:txBody>
          <a:bodyPr wrap="square" rtlCol="0" anchor="ctr"/>
          <a:lstStyle/>
          <a:p>
            <a:pPr marL="0" indent="0" algn="ctr">
              <a:buNone/>
            </a:pPr>
            <a:r>
              <a:rPr lang="en-US" sz="1600" b="1" dirty="0">
                <a:solidFill>
                  <a:srgbClr val="0F172A"/>
                </a:solidFill>
                <a:latin typeface="Cambria" pitchFamily="34" charset="0"/>
                <a:ea typeface="Cambria" pitchFamily="34" charset="-122"/>
                <a:cs typeface="Cambria" pitchFamily="34" charset="-120"/>
              </a:rPr>
              <a:t>DETECT</a:t>
            </a:r>
            <a:endParaRPr lang="en-US" sz="1600" dirty="0"/>
          </a:p>
        </p:txBody>
      </p:sp>
      <p:sp>
        <p:nvSpPr>
          <p:cNvPr id="8" name="Text 6"/>
          <p:cNvSpPr/>
          <p:nvPr/>
        </p:nvSpPr>
        <p:spPr>
          <a:xfrm>
            <a:off x="502920" y="3977640"/>
            <a:ext cx="2423160" cy="5029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HDBSCAN spatial clustering</a:t>
            </a:r>
            <a:endParaRPr lang="en-US" sz="1100" dirty="0"/>
          </a:p>
        </p:txBody>
      </p:sp>
      <p:sp>
        <p:nvSpPr>
          <p:cNvPr id="9" name="Shape 7"/>
          <p:cNvSpPr/>
          <p:nvPr/>
        </p:nvSpPr>
        <p:spPr>
          <a:xfrm>
            <a:off x="3246120" y="2880360"/>
            <a:ext cx="2697480" cy="1691640"/>
          </a:xfrm>
          <a:prstGeom prst="roundRect">
            <a:avLst>
              <a:gd name="adj" fmla="val 4324"/>
            </a:avLst>
          </a:prstGeom>
          <a:solidFill>
            <a:srgbClr val="F8FAFC"/>
          </a:solidFill>
          <a:ln w="15875">
            <a:solidFill>
              <a:srgbClr val="1D4ED8"/>
            </a:solidFill>
            <a:prstDash val="solid"/>
          </a:ln>
        </p:spPr>
      </p:sp>
      <p:sp>
        <p:nvSpPr>
          <p:cNvPr id="10" name="Text 8"/>
          <p:cNvSpPr/>
          <p:nvPr/>
        </p:nvSpPr>
        <p:spPr>
          <a:xfrm>
            <a:off x="3246120" y="3035808"/>
            <a:ext cx="2697480" cy="502920"/>
          </a:xfrm>
          <a:prstGeom prst="rect">
            <a:avLst/>
          </a:prstGeom>
          <a:noFill/>
          <a:ln/>
        </p:spPr>
        <p:txBody>
          <a:bodyPr wrap="square" rtlCol="0" anchor="ctr"/>
          <a:lstStyle/>
          <a:p>
            <a:pPr marL="0" indent="0" algn="ctr">
              <a:buNone/>
            </a:pPr>
            <a:r>
              <a:rPr lang="en-US" sz="2600" dirty="0">
                <a:solidFill>
                  <a:srgbClr val="1D4ED8"/>
                </a:solidFill>
              </a:rPr>
              <a:t>◷</a:t>
            </a:r>
            <a:endParaRPr lang="en-US" sz="2600" dirty="0"/>
          </a:p>
        </p:txBody>
      </p:sp>
      <p:sp>
        <p:nvSpPr>
          <p:cNvPr id="11" name="Text 9"/>
          <p:cNvSpPr/>
          <p:nvPr/>
        </p:nvSpPr>
        <p:spPr>
          <a:xfrm>
            <a:off x="3246120" y="3584448"/>
            <a:ext cx="2697480" cy="365760"/>
          </a:xfrm>
          <a:prstGeom prst="rect">
            <a:avLst/>
          </a:prstGeom>
          <a:noFill/>
          <a:ln/>
        </p:spPr>
        <p:txBody>
          <a:bodyPr wrap="square" rtlCol="0" anchor="ctr"/>
          <a:lstStyle/>
          <a:p>
            <a:pPr marL="0" indent="0" algn="ctr">
              <a:buNone/>
            </a:pPr>
            <a:r>
              <a:rPr lang="en-US" sz="1600" b="1" dirty="0">
                <a:solidFill>
                  <a:srgbClr val="0F172A"/>
                </a:solidFill>
                <a:latin typeface="Cambria" pitchFamily="34" charset="0"/>
                <a:ea typeface="Cambria" pitchFamily="34" charset="-122"/>
                <a:cs typeface="Cambria" pitchFamily="34" charset="-120"/>
              </a:rPr>
              <a:t>QUANTIFY</a:t>
            </a:r>
            <a:endParaRPr lang="en-US" sz="1600" dirty="0"/>
          </a:p>
        </p:txBody>
      </p:sp>
      <p:sp>
        <p:nvSpPr>
          <p:cNvPr id="12" name="Text 10"/>
          <p:cNvSpPr/>
          <p:nvPr/>
        </p:nvSpPr>
        <p:spPr>
          <a:xfrm>
            <a:off x="3383280" y="3977640"/>
            <a:ext cx="2423160" cy="5029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Physics + XGBoost forecast</a:t>
            </a:r>
            <a:endParaRPr lang="en-US" sz="1100" dirty="0"/>
          </a:p>
        </p:txBody>
      </p:sp>
      <p:sp>
        <p:nvSpPr>
          <p:cNvPr id="13" name="Shape 11"/>
          <p:cNvSpPr/>
          <p:nvPr/>
        </p:nvSpPr>
        <p:spPr>
          <a:xfrm>
            <a:off x="6126480" y="2880360"/>
            <a:ext cx="2697480" cy="1691640"/>
          </a:xfrm>
          <a:prstGeom prst="roundRect">
            <a:avLst>
              <a:gd name="adj" fmla="val 4324"/>
            </a:avLst>
          </a:prstGeom>
          <a:solidFill>
            <a:srgbClr val="F8FAFC"/>
          </a:solidFill>
          <a:ln w="15875">
            <a:solidFill>
              <a:srgbClr val="1D4ED8"/>
            </a:solidFill>
            <a:prstDash val="solid"/>
          </a:ln>
        </p:spPr>
      </p:sp>
      <p:sp>
        <p:nvSpPr>
          <p:cNvPr id="14" name="Text 12"/>
          <p:cNvSpPr/>
          <p:nvPr/>
        </p:nvSpPr>
        <p:spPr>
          <a:xfrm>
            <a:off x="6126480" y="3035808"/>
            <a:ext cx="2697480" cy="502920"/>
          </a:xfrm>
          <a:prstGeom prst="rect">
            <a:avLst/>
          </a:prstGeom>
          <a:noFill/>
          <a:ln/>
        </p:spPr>
        <p:txBody>
          <a:bodyPr wrap="square" rtlCol="0" anchor="ctr"/>
          <a:lstStyle/>
          <a:p>
            <a:pPr marL="0" indent="0" algn="ctr">
              <a:buNone/>
            </a:pPr>
            <a:r>
              <a:rPr lang="en-US" sz="2600" dirty="0">
                <a:solidFill>
                  <a:srgbClr val="1D4ED8"/>
                </a:solidFill>
              </a:rPr>
              <a:t>▤</a:t>
            </a:r>
            <a:endParaRPr lang="en-US" sz="2600" dirty="0"/>
          </a:p>
        </p:txBody>
      </p:sp>
      <p:sp>
        <p:nvSpPr>
          <p:cNvPr id="15" name="Text 13"/>
          <p:cNvSpPr/>
          <p:nvPr/>
        </p:nvSpPr>
        <p:spPr>
          <a:xfrm>
            <a:off x="6126480" y="3584448"/>
            <a:ext cx="2697480" cy="365760"/>
          </a:xfrm>
          <a:prstGeom prst="rect">
            <a:avLst/>
          </a:prstGeom>
          <a:noFill/>
          <a:ln/>
        </p:spPr>
        <p:txBody>
          <a:bodyPr wrap="square" rtlCol="0" anchor="ctr"/>
          <a:lstStyle/>
          <a:p>
            <a:pPr marL="0" indent="0" algn="ctr">
              <a:buNone/>
            </a:pPr>
            <a:r>
              <a:rPr lang="en-US" sz="1600" b="1" dirty="0">
                <a:solidFill>
                  <a:srgbClr val="0F172A"/>
                </a:solidFill>
                <a:latin typeface="Cambria" pitchFamily="34" charset="0"/>
                <a:ea typeface="Cambria" pitchFamily="34" charset="-122"/>
                <a:cs typeface="Cambria" pitchFamily="34" charset="-120"/>
              </a:rPr>
              <a:t>PRESCRIBE</a:t>
            </a:r>
            <a:endParaRPr lang="en-US" sz="1600" dirty="0"/>
          </a:p>
        </p:txBody>
      </p:sp>
      <p:sp>
        <p:nvSpPr>
          <p:cNvPr id="16" name="Text 14"/>
          <p:cNvSpPr/>
          <p:nvPr/>
        </p:nvSpPr>
        <p:spPr>
          <a:xfrm>
            <a:off x="6263640" y="3977640"/>
            <a:ext cx="2423160" cy="5029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Knapsack-optimized dispatch</a:t>
            </a:r>
            <a:endParaRPr lang="en-US" sz="1100" dirty="0"/>
          </a:p>
        </p:txBody>
      </p:sp>
      <p:sp>
        <p:nvSpPr>
          <p:cNvPr id="17" name="Text 15"/>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8" name="Text 16"/>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ARCHITECTURE</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The 4-Stage AI Pipeline</a:t>
            </a:r>
            <a:endParaRPr lang="en-US" sz="2600" dirty="0"/>
          </a:p>
        </p:txBody>
      </p:sp>
      <p:sp>
        <p:nvSpPr>
          <p:cNvPr id="4" name="Shape 2"/>
          <p:cNvSpPr/>
          <p:nvPr/>
        </p:nvSpPr>
        <p:spPr>
          <a:xfrm>
            <a:off x="320040" y="1188720"/>
            <a:ext cx="2011680" cy="3611880"/>
          </a:xfrm>
          <a:prstGeom prst="roundRect">
            <a:avLst>
              <a:gd name="adj" fmla="val 3636"/>
            </a:avLst>
          </a:prstGeom>
          <a:solidFill>
            <a:srgbClr val="F8FAFC"/>
          </a:solidFill>
          <a:ln w="12700">
            <a:solidFill>
              <a:srgbClr val="E2E8F0"/>
            </a:solidFill>
            <a:prstDash val="solid"/>
          </a:ln>
        </p:spPr>
      </p:sp>
      <p:sp>
        <p:nvSpPr>
          <p:cNvPr id="5" name="Shape 3"/>
          <p:cNvSpPr/>
          <p:nvPr/>
        </p:nvSpPr>
        <p:spPr>
          <a:xfrm>
            <a:off x="1033272" y="1353312"/>
            <a:ext cx="585216" cy="585216"/>
          </a:xfrm>
          <a:prstGeom prst="ellipse">
            <a:avLst/>
          </a:prstGeom>
          <a:solidFill>
            <a:srgbClr val="1D4ED8"/>
          </a:solidFill>
          <a:ln/>
        </p:spPr>
      </p:sp>
      <p:sp>
        <p:nvSpPr>
          <p:cNvPr id="6" name="Text 4"/>
          <p:cNvSpPr/>
          <p:nvPr/>
        </p:nvSpPr>
        <p:spPr>
          <a:xfrm>
            <a:off x="1033272" y="1353312"/>
            <a:ext cx="585216" cy="58521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393192" y="2029968"/>
            <a:ext cx="1865376" cy="502920"/>
          </a:xfrm>
          <a:prstGeom prst="rect">
            <a:avLst/>
          </a:prstGeom>
          <a:noFill/>
          <a:ln/>
        </p:spPr>
        <p:txBody>
          <a:bodyPr wrap="square" rtlCol="0" anchor="ctr"/>
          <a:lstStyle/>
          <a:p>
            <a:pPr marL="0" indent="0" algn="ctr">
              <a:buNone/>
            </a:pPr>
            <a:r>
              <a:rPr lang="en-US" sz="1250" b="1" dirty="0">
                <a:solidFill>
                  <a:srgbClr val="0F172A"/>
                </a:solidFill>
                <a:latin typeface="Cambria" pitchFamily="34" charset="0"/>
                <a:ea typeface="Cambria" pitchFamily="34" charset="-122"/>
                <a:cs typeface="Cambria" pitchFamily="34" charset="-120"/>
              </a:rPr>
              <a:t>Spatial Clustering</a:t>
            </a:r>
            <a:endParaRPr lang="en-US" sz="1250" dirty="0"/>
          </a:p>
        </p:txBody>
      </p:sp>
      <p:sp>
        <p:nvSpPr>
          <p:cNvPr id="8" name="Text 6"/>
          <p:cNvSpPr/>
          <p:nvPr/>
        </p:nvSpPr>
        <p:spPr>
          <a:xfrm>
            <a:off x="393192" y="2487168"/>
            <a:ext cx="1865376" cy="274320"/>
          </a:xfrm>
          <a:prstGeom prst="rect">
            <a:avLst/>
          </a:prstGeom>
          <a:noFill/>
          <a:ln/>
        </p:spPr>
        <p:txBody>
          <a:bodyPr wrap="square" rtlCol="0" anchor="ctr"/>
          <a:lstStyle/>
          <a:p>
            <a:pPr marL="0" indent="0" algn="ctr">
              <a:buNone/>
            </a:pPr>
            <a:r>
              <a:rPr lang="en-US" sz="950" b="1" dirty="0">
                <a:solidFill>
                  <a:srgbClr val="1D4ED8"/>
                </a:solidFill>
                <a:latin typeface="Calibri" pitchFamily="34" charset="0"/>
                <a:ea typeface="Calibri" pitchFamily="34" charset="-122"/>
                <a:cs typeface="Calibri" pitchFamily="34" charset="-120"/>
              </a:rPr>
              <a:t>HDBSCAN</a:t>
            </a:r>
            <a:endParaRPr lang="en-US" sz="950" dirty="0"/>
          </a:p>
        </p:txBody>
      </p:sp>
      <p:sp>
        <p:nvSpPr>
          <p:cNvPr id="9" name="Text 7"/>
          <p:cNvSpPr/>
          <p:nvPr/>
        </p:nvSpPr>
        <p:spPr>
          <a:xfrm>
            <a:off x="429768" y="2816352"/>
            <a:ext cx="1792224"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Density-based clustering maps GPS violations into exact bottleneck zones — no hardcoded city polygons.</a:t>
            </a:r>
            <a:endParaRPr lang="en-US" sz="950" dirty="0"/>
          </a:p>
        </p:txBody>
      </p:sp>
      <p:sp>
        <p:nvSpPr>
          <p:cNvPr id="10" name="Shape 8"/>
          <p:cNvSpPr/>
          <p:nvPr/>
        </p:nvSpPr>
        <p:spPr>
          <a:xfrm>
            <a:off x="429768" y="4160520"/>
            <a:ext cx="1792224" cy="502920"/>
          </a:xfrm>
          <a:prstGeom prst="rect">
            <a:avLst/>
          </a:prstGeom>
          <a:solidFill>
            <a:srgbClr val="FFFFFF"/>
          </a:solidFill>
          <a:ln w="12700">
            <a:solidFill>
              <a:srgbClr val="1D4ED8"/>
            </a:solidFill>
            <a:prstDash val="solid"/>
          </a:ln>
        </p:spPr>
      </p:sp>
      <p:sp>
        <p:nvSpPr>
          <p:cNvPr id="11" name="Text 9"/>
          <p:cNvSpPr/>
          <p:nvPr/>
        </p:nvSpPr>
        <p:spPr>
          <a:xfrm>
            <a:off x="484632" y="4206240"/>
            <a:ext cx="1682496" cy="411480"/>
          </a:xfrm>
          <a:prstGeom prst="rect">
            <a:avLst/>
          </a:prstGeom>
          <a:noFill/>
          <a:ln/>
        </p:spPr>
        <p:txBody>
          <a:bodyPr wrap="square" rtlCol="0" anchor="ctr"/>
          <a:lstStyle/>
          <a:p>
            <a:pPr marL="0" indent="0" algn="ctr">
              <a:buNone/>
            </a:pPr>
            <a:r>
              <a:rPr lang="en-US" sz="850" b="1" dirty="0">
                <a:solidFill>
                  <a:srgbClr val="1D4ED8"/>
                </a:solidFill>
                <a:latin typeface="Calibri" pitchFamily="34" charset="0"/>
                <a:ea typeface="Calibri" pitchFamily="34" charset="-122"/>
                <a:cs typeface="Calibri" pitchFamily="34" charset="-120"/>
              </a:rPr>
              <a:t>312 hotspot zones identified</a:t>
            </a:r>
            <a:endParaRPr lang="en-US" sz="850" dirty="0"/>
          </a:p>
        </p:txBody>
      </p:sp>
      <p:sp>
        <p:nvSpPr>
          <p:cNvPr id="12" name="Text 10"/>
          <p:cNvSpPr/>
          <p:nvPr/>
        </p:nvSpPr>
        <p:spPr>
          <a:xfrm>
            <a:off x="2313432" y="2651760"/>
            <a:ext cx="27432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13" name="Shape 11"/>
          <p:cNvSpPr/>
          <p:nvPr/>
        </p:nvSpPr>
        <p:spPr>
          <a:xfrm>
            <a:off x="2459736" y="1188720"/>
            <a:ext cx="2011680" cy="3611880"/>
          </a:xfrm>
          <a:prstGeom prst="roundRect">
            <a:avLst>
              <a:gd name="adj" fmla="val 3636"/>
            </a:avLst>
          </a:prstGeom>
          <a:solidFill>
            <a:srgbClr val="F8FAFC"/>
          </a:solidFill>
          <a:ln w="12700">
            <a:solidFill>
              <a:srgbClr val="E2E8F0"/>
            </a:solidFill>
            <a:prstDash val="solid"/>
          </a:ln>
        </p:spPr>
      </p:sp>
      <p:sp>
        <p:nvSpPr>
          <p:cNvPr id="14" name="Shape 12"/>
          <p:cNvSpPr/>
          <p:nvPr/>
        </p:nvSpPr>
        <p:spPr>
          <a:xfrm>
            <a:off x="3172968" y="1353312"/>
            <a:ext cx="585216" cy="585216"/>
          </a:xfrm>
          <a:prstGeom prst="ellipse">
            <a:avLst/>
          </a:prstGeom>
          <a:solidFill>
            <a:srgbClr val="0891B2"/>
          </a:solidFill>
          <a:ln/>
        </p:spPr>
      </p:sp>
      <p:sp>
        <p:nvSpPr>
          <p:cNvPr id="15" name="Text 13"/>
          <p:cNvSpPr/>
          <p:nvPr/>
        </p:nvSpPr>
        <p:spPr>
          <a:xfrm>
            <a:off x="3172968" y="1353312"/>
            <a:ext cx="585216" cy="58521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2532888" y="2029968"/>
            <a:ext cx="1865376" cy="502920"/>
          </a:xfrm>
          <a:prstGeom prst="rect">
            <a:avLst/>
          </a:prstGeom>
          <a:noFill/>
          <a:ln/>
        </p:spPr>
        <p:txBody>
          <a:bodyPr wrap="square" rtlCol="0" anchor="ctr"/>
          <a:lstStyle/>
          <a:p>
            <a:pPr marL="0" indent="0" algn="ctr">
              <a:buNone/>
            </a:pPr>
            <a:r>
              <a:rPr lang="en-US" sz="1250" b="1" dirty="0">
                <a:solidFill>
                  <a:srgbClr val="0F172A"/>
                </a:solidFill>
                <a:latin typeface="Cambria" pitchFamily="34" charset="0"/>
                <a:ea typeface="Cambria" pitchFamily="34" charset="-122"/>
                <a:cs typeface="Cambria" pitchFamily="34" charset="-120"/>
              </a:rPr>
              <a:t>Congestion Quantification</a:t>
            </a:r>
            <a:endParaRPr lang="en-US" sz="1250" dirty="0"/>
          </a:p>
        </p:txBody>
      </p:sp>
      <p:sp>
        <p:nvSpPr>
          <p:cNvPr id="17" name="Text 15"/>
          <p:cNvSpPr/>
          <p:nvPr/>
        </p:nvSpPr>
        <p:spPr>
          <a:xfrm>
            <a:off x="2532888" y="2487168"/>
            <a:ext cx="1865376" cy="274320"/>
          </a:xfrm>
          <a:prstGeom prst="rect">
            <a:avLst/>
          </a:prstGeom>
          <a:noFill/>
          <a:ln/>
        </p:spPr>
        <p:txBody>
          <a:bodyPr wrap="square" rtlCol="0" anchor="ctr"/>
          <a:lstStyle/>
          <a:p>
            <a:pPr marL="0" indent="0" algn="ctr">
              <a:buNone/>
            </a:pPr>
            <a:r>
              <a:rPr lang="en-US" sz="950" b="1" dirty="0">
                <a:solidFill>
                  <a:srgbClr val="0891B2"/>
                </a:solidFill>
                <a:latin typeface="Calibri" pitchFamily="34" charset="0"/>
                <a:ea typeface="Calibri" pitchFamily="34" charset="-122"/>
                <a:cs typeface="Calibri" pitchFamily="34" charset="-120"/>
              </a:rPr>
              <a:t>Greenshields + LWR Physics</a:t>
            </a:r>
            <a:endParaRPr lang="en-US" sz="950" dirty="0"/>
          </a:p>
        </p:txBody>
      </p:sp>
      <p:sp>
        <p:nvSpPr>
          <p:cNvPr id="18" name="Text 16"/>
          <p:cNvSpPr/>
          <p:nvPr/>
        </p:nvSpPr>
        <p:spPr>
          <a:xfrm>
            <a:off x="2569464" y="2816352"/>
            <a:ext cx="1792224"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Real traffic-flow physics translates static tickets into dynamic lane capacity loss and queue length.</a:t>
            </a:r>
            <a:endParaRPr lang="en-US" sz="950" dirty="0"/>
          </a:p>
        </p:txBody>
      </p:sp>
      <p:sp>
        <p:nvSpPr>
          <p:cNvPr id="19" name="Shape 17"/>
          <p:cNvSpPr/>
          <p:nvPr/>
        </p:nvSpPr>
        <p:spPr>
          <a:xfrm>
            <a:off x="2569464" y="4160520"/>
            <a:ext cx="1792224" cy="502920"/>
          </a:xfrm>
          <a:prstGeom prst="rect">
            <a:avLst/>
          </a:prstGeom>
          <a:solidFill>
            <a:srgbClr val="FFFFFF"/>
          </a:solidFill>
          <a:ln w="12700">
            <a:solidFill>
              <a:srgbClr val="0891B2"/>
            </a:solidFill>
            <a:prstDash val="solid"/>
          </a:ln>
        </p:spPr>
      </p:sp>
      <p:sp>
        <p:nvSpPr>
          <p:cNvPr id="20" name="Text 18"/>
          <p:cNvSpPr/>
          <p:nvPr/>
        </p:nvSpPr>
        <p:spPr>
          <a:xfrm>
            <a:off x="2624328" y="4206240"/>
            <a:ext cx="1682496" cy="411480"/>
          </a:xfrm>
          <a:prstGeom prst="rect">
            <a:avLst/>
          </a:prstGeom>
          <a:noFill/>
          <a:ln/>
        </p:spPr>
        <p:txBody>
          <a:bodyPr wrap="square" rtlCol="0" anchor="ctr"/>
          <a:lstStyle/>
          <a:p>
            <a:pPr marL="0" indent="0" algn="ctr">
              <a:buNone/>
            </a:pPr>
            <a:r>
              <a:rPr lang="en-US" sz="850" b="1" dirty="0">
                <a:solidFill>
                  <a:srgbClr val="0891B2"/>
                </a:solidFill>
                <a:latin typeface="Calibri" pitchFamily="34" charset="0"/>
                <a:ea typeface="Calibri" pitchFamily="34" charset="-122"/>
                <a:cs typeface="Calibri" pitchFamily="34" charset="-120"/>
              </a:rPr>
              <a:t>Up to 94% capacity loss quantified</a:t>
            </a:r>
            <a:endParaRPr lang="en-US" sz="850" dirty="0"/>
          </a:p>
        </p:txBody>
      </p:sp>
      <p:sp>
        <p:nvSpPr>
          <p:cNvPr id="21" name="Text 19"/>
          <p:cNvSpPr/>
          <p:nvPr/>
        </p:nvSpPr>
        <p:spPr>
          <a:xfrm>
            <a:off x="4453128" y="2651760"/>
            <a:ext cx="27432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22" name="Shape 20"/>
          <p:cNvSpPr/>
          <p:nvPr/>
        </p:nvSpPr>
        <p:spPr>
          <a:xfrm>
            <a:off x="4599432" y="1188720"/>
            <a:ext cx="2011680" cy="3611880"/>
          </a:xfrm>
          <a:prstGeom prst="roundRect">
            <a:avLst>
              <a:gd name="adj" fmla="val 3636"/>
            </a:avLst>
          </a:prstGeom>
          <a:solidFill>
            <a:srgbClr val="F8FAFC"/>
          </a:solidFill>
          <a:ln w="12700">
            <a:solidFill>
              <a:srgbClr val="E2E8F0"/>
            </a:solidFill>
            <a:prstDash val="solid"/>
          </a:ln>
        </p:spPr>
      </p:sp>
      <p:sp>
        <p:nvSpPr>
          <p:cNvPr id="23" name="Shape 21"/>
          <p:cNvSpPr/>
          <p:nvPr/>
        </p:nvSpPr>
        <p:spPr>
          <a:xfrm>
            <a:off x="5312664" y="1353312"/>
            <a:ext cx="585216" cy="585216"/>
          </a:xfrm>
          <a:prstGeom prst="ellipse">
            <a:avLst/>
          </a:prstGeom>
          <a:solidFill>
            <a:srgbClr val="D97706"/>
          </a:solidFill>
          <a:ln/>
        </p:spPr>
      </p:sp>
      <p:sp>
        <p:nvSpPr>
          <p:cNvPr id="24" name="Text 22"/>
          <p:cNvSpPr/>
          <p:nvPr/>
        </p:nvSpPr>
        <p:spPr>
          <a:xfrm>
            <a:off x="5312664" y="1353312"/>
            <a:ext cx="585216" cy="58521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5" name="Text 23"/>
          <p:cNvSpPr/>
          <p:nvPr/>
        </p:nvSpPr>
        <p:spPr>
          <a:xfrm>
            <a:off x="4672584" y="2029968"/>
            <a:ext cx="1865376" cy="502920"/>
          </a:xfrm>
          <a:prstGeom prst="rect">
            <a:avLst/>
          </a:prstGeom>
          <a:noFill/>
          <a:ln/>
        </p:spPr>
        <p:txBody>
          <a:bodyPr wrap="square" rtlCol="0" anchor="ctr"/>
          <a:lstStyle/>
          <a:p>
            <a:pPr marL="0" indent="0" algn="ctr">
              <a:buNone/>
            </a:pPr>
            <a:r>
              <a:rPr lang="en-US" sz="1250" b="1" dirty="0">
                <a:solidFill>
                  <a:srgbClr val="0F172A"/>
                </a:solidFill>
                <a:latin typeface="Cambria" pitchFamily="34" charset="0"/>
                <a:ea typeface="Cambria" pitchFamily="34" charset="-122"/>
                <a:cs typeface="Cambria" pitchFamily="34" charset="-120"/>
              </a:rPr>
              <a:t>Predictive Forecasting</a:t>
            </a:r>
            <a:endParaRPr lang="en-US" sz="1250" dirty="0"/>
          </a:p>
        </p:txBody>
      </p:sp>
      <p:sp>
        <p:nvSpPr>
          <p:cNvPr id="26" name="Text 24"/>
          <p:cNvSpPr/>
          <p:nvPr/>
        </p:nvSpPr>
        <p:spPr>
          <a:xfrm>
            <a:off x="4672584" y="2487168"/>
            <a:ext cx="1865376" cy="274320"/>
          </a:xfrm>
          <a:prstGeom prst="rect">
            <a:avLst/>
          </a:prstGeom>
          <a:noFill/>
          <a:ln/>
        </p:spPr>
        <p:txBody>
          <a:bodyPr wrap="square" rtlCol="0" anchor="ctr"/>
          <a:lstStyle/>
          <a:p>
            <a:pPr marL="0" indent="0" algn="ctr">
              <a:buNone/>
            </a:pPr>
            <a:r>
              <a:rPr lang="en-US" sz="950" b="1" dirty="0">
                <a:solidFill>
                  <a:srgbClr val="D97706"/>
                </a:solidFill>
                <a:latin typeface="Calibri" pitchFamily="34" charset="0"/>
                <a:ea typeface="Calibri" pitchFamily="34" charset="-122"/>
                <a:cs typeface="Calibri" pitchFamily="34" charset="-120"/>
              </a:rPr>
              <a:t>XGBoost + SHAP</a:t>
            </a:r>
            <a:endParaRPr lang="en-US" sz="950" dirty="0"/>
          </a:p>
        </p:txBody>
      </p:sp>
      <p:sp>
        <p:nvSpPr>
          <p:cNvPr id="27" name="Text 25"/>
          <p:cNvSpPr/>
          <p:nvPr/>
        </p:nvSpPr>
        <p:spPr>
          <a:xfrm>
            <a:off x="4709160" y="2816352"/>
            <a:ext cx="1792224"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Temporal lag features forecast congestion severity 1–3 hours ahead, fully explainable via SHAP.</a:t>
            </a:r>
            <a:endParaRPr lang="en-US" sz="950" dirty="0"/>
          </a:p>
        </p:txBody>
      </p:sp>
      <p:sp>
        <p:nvSpPr>
          <p:cNvPr id="28" name="Shape 26"/>
          <p:cNvSpPr/>
          <p:nvPr/>
        </p:nvSpPr>
        <p:spPr>
          <a:xfrm>
            <a:off x="4709160" y="4160520"/>
            <a:ext cx="1792224" cy="502920"/>
          </a:xfrm>
          <a:prstGeom prst="rect">
            <a:avLst/>
          </a:prstGeom>
          <a:solidFill>
            <a:srgbClr val="FFFFFF"/>
          </a:solidFill>
          <a:ln w="12700">
            <a:solidFill>
              <a:srgbClr val="D97706"/>
            </a:solidFill>
            <a:prstDash val="solid"/>
          </a:ln>
        </p:spPr>
      </p:sp>
      <p:sp>
        <p:nvSpPr>
          <p:cNvPr id="29" name="Text 27"/>
          <p:cNvSpPr/>
          <p:nvPr/>
        </p:nvSpPr>
        <p:spPr>
          <a:xfrm>
            <a:off x="4764024" y="4206240"/>
            <a:ext cx="1682496" cy="411480"/>
          </a:xfrm>
          <a:prstGeom prst="rect">
            <a:avLst/>
          </a:prstGeom>
          <a:noFill/>
          <a:ln/>
        </p:spPr>
        <p:txBody>
          <a:bodyPr wrap="square" rtlCol="0" anchor="ctr"/>
          <a:lstStyle/>
          <a:p>
            <a:pPr marL="0" indent="0" algn="ctr">
              <a:buNone/>
            </a:pPr>
            <a:r>
              <a:rPr lang="en-US" sz="850" b="1" dirty="0">
                <a:solidFill>
                  <a:srgbClr val="D97706"/>
                </a:solidFill>
                <a:latin typeface="Calibri" pitchFamily="34" charset="0"/>
                <a:ea typeface="Calibri" pitchFamily="34" charset="-122"/>
                <a:cs typeface="Calibri" pitchFamily="34" charset="-120"/>
              </a:rPr>
              <a:t>1h / 2h / 3h forecasts, all zones</a:t>
            </a:r>
            <a:endParaRPr lang="en-US" sz="850" dirty="0"/>
          </a:p>
        </p:txBody>
      </p:sp>
      <p:sp>
        <p:nvSpPr>
          <p:cNvPr id="30" name="Text 28"/>
          <p:cNvSpPr/>
          <p:nvPr/>
        </p:nvSpPr>
        <p:spPr>
          <a:xfrm>
            <a:off x="6592824" y="2651760"/>
            <a:ext cx="27432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31" name="Shape 29"/>
          <p:cNvSpPr/>
          <p:nvPr/>
        </p:nvSpPr>
        <p:spPr>
          <a:xfrm>
            <a:off x="6739128" y="1188720"/>
            <a:ext cx="2011680" cy="3611880"/>
          </a:xfrm>
          <a:prstGeom prst="roundRect">
            <a:avLst>
              <a:gd name="adj" fmla="val 3636"/>
            </a:avLst>
          </a:prstGeom>
          <a:solidFill>
            <a:srgbClr val="F8FAFC"/>
          </a:solidFill>
          <a:ln w="12700">
            <a:solidFill>
              <a:srgbClr val="E2E8F0"/>
            </a:solidFill>
            <a:prstDash val="solid"/>
          </a:ln>
        </p:spPr>
      </p:sp>
      <p:sp>
        <p:nvSpPr>
          <p:cNvPr id="32" name="Shape 30"/>
          <p:cNvSpPr/>
          <p:nvPr/>
        </p:nvSpPr>
        <p:spPr>
          <a:xfrm>
            <a:off x="7452360" y="1353312"/>
            <a:ext cx="585216" cy="585216"/>
          </a:xfrm>
          <a:prstGeom prst="ellipse">
            <a:avLst/>
          </a:prstGeom>
          <a:solidFill>
            <a:srgbClr val="16A34A"/>
          </a:solidFill>
          <a:ln/>
        </p:spPr>
      </p:sp>
      <p:sp>
        <p:nvSpPr>
          <p:cNvPr id="33" name="Text 31"/>
          <p:cNvSpPr/>
          <p:nvPr/>
        </p:nvSpPr>
        <p:spPr>
          <a:xfrm>
            <a:off x="7452360" y="1353312"/>
            <a:ext cx="585216" cy="585216"/>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4" name="Text 32"/>
          <p:cNvSpPr/>
          <p:nvPr/>
        </p:nvSpPr>
        <p:spPr>
          <a:xfrm>
            <a:off x="6812280" y="2029968"/>
            <a:ext cx="1865376" cy="502920"/>
          </a:xfrm>
          <a:prstGeom prst="rect">
            <a:avLst/>
          </a:prstGeom>
          <a:noFill/>
          <a:ln/>
        </p:spPr>
        <p:txBody>
          <a:bodyPr wrap="square" rtlCol="0" anchor="ctr"/>
          <a:lstStyle/>
          <a:p>
            <a:pPr marL="0" indent="0" algn="ctr">
              <a:buNone/>
            </a:pPr>
            <a:r>
              <a:rPr lang="en-US" sz="1250" b="1" dirty="0">
                <a:solidFill>
                  <a:srgbClr val="0F172A"/>
                </a:solidFill>
                <a:latin typeface="Cambria" pitchFamily="34" charset="0"/>
                <a:ea typeface="Cambria" pitchFamily="34" charset="-122"/>
                <a:cs typeface="Cambria" pitchFamily="34" charset="-120"/>
              </a:rPr>
              <a:t>Prescriptive Optimization</a:t>
            </a:r>
            <a:endParaRPr lang="en-US" sz="1250" dirty="0"/>
          </a:p>
        </p:txBody>
      </p:sp>
      <p:sp>
        <p:nvSpPr>
          <p:cNvPr id="35" name="Text 33"/>
          <p:cNvSpPr/>
          <p:nvPr/>
        </p:nvSpPr>
        <p:spPr>
          <a:xfrm>
            <a:off x="6812280" y="2487168"/>
            <a:ext cx="1865376" cy="274320"/>
          </a:xfrm>
          <a:prstGeom prst="rect">
            <a:avLst/>
          </a:prstGeom>
          <a:noFill/>
          <a:ln/>
        </p:spPr>
        <p:txBody>
          <a:bodyPr wrap="square" rtlCol="0" anchor="ctr"/>
          <a:lstStyle/>
          <a:p>
            <a:pPr marL="0" indent="0" algn="ctr">
              <a:buNone/>
            </a:pPr>
            <a:r>
              <a:rPr lang="en-US" sz="950" b="1" dirty="0">
                <a:solidFill>
                  <a:srgbClr val="16A34A"/>
                </a:solidFill>
                <a:latin typeface="Calibri" pitchFamily="34" charset="0"/>
                <a:ea typeface="Calibri" pitchFamily="34" charset="-122"/>
                <a:cs typeface="Calibri" pitchFamily="34" charset="-120"/>
              </a:rPr>
              <a:t>0-1 Knapsack</a:t>
            </a:r>
            <a:endParaRPr lang="en-US" sz="950" dirty="0"/>
          </a:p>
        </p:txBody>
      </p:sp>
      <p:sp>
        <p:nvSpPr>
          <p:cNvPr id="36" name="Text 34"/>
          <p:cNvSpPr/>
          <p:nvPr/>
        </p:nvSpPr>
        <p:spPr>
          <a:xfrm>
            <a:off x="6848856" y="2816352"/>
            <a:ext cx="1792224"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Patrol deployment framed as constrained optimization — maximize recovery given limited tow trucks.</a:t>
            </a:r>
            <a:endParaRPr lang="en-US" sz="950" dirty="0"/>
          </a:p>
        </p:txBody>
      </p:sp>
      <p:sp>
        <p:nvSpPr>
          <p:cNvPr id="37" name="Shape 35"/>
          <p:cNvSpPr/>
          <p:nvPr/>
        </p:nvSpPr>
        <p:spPr>
          <a:xfrm>
            <a:off x="6848856" y="4160520"/>
            <a:ext cx="1792224" cy="502920"/>
          </a:xfrm>
          <a:prstGeom prst="rect">
            <a:avLst/>
          </a:prstGeom>
          <a:solidFill>
            <a:srgbClr val="FFFFFF"/>
          </a:solidFill>
          <a:ln w="12700">
            <a:solidFill>
              <a:srgbClr val="16A34A"/>
            </a:solidFill>
            <a:prstDash val="solid"/>
          </a:ln>
        </p:spPr>
      </p:sp>
      <p:sp>
        <p:nvSpPr>
          <p:cNvPr id="38" name="Text 36"/>
          <p:cNvSpPr/>
          <p:nvPr/>
        </p:nvSpPr>
        <p:spPr>
          <a:xfrm>
            <a:off x="6903720" y="4206240"/>
            <a:ext cx="1682496" cy="411480"/>
          </a:xfrm>
          <a:prstGeom prst="rect">
            <a:avLst/>
          </a:prstGeom>
          <a:noFill/>
          <a:ln/>
        </p:spPr>
        <p:txBody>
          <a:bodyPr wrap="square"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Ranked dispatch schedule output</a:t>
            </a:r>
            <a:endParaRPr lang="en-US" sz="850" dirty="0"/>
          </a:p>
        </p:txBody>
      </p:sp>
      <p:sp>
        <p:nvSpPr>
          <p:cNvPr id="39" name="Text 37"/>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40" name="Text 38"/>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STAGE 1 — HOTSPOT DETECTION</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312 Zones Identified via HDBSCAN</a:t>
            </a:r>
            <a:endParaRPr lang="en-US" sz="2600" dirty="0"/>
          </a:p>
        </p:txBody>
      </p:sp>
      <p:pic>
        <p:nvPicPr>
          <p:cNvPr id="4" name="Image 0" descr="/home/claude/ppt_build/06_hdbscan_clusters.png"/>
          <p:cNvPicPr>
            <a:picLocks noChangeAspect="1"/>
          </p:cNvPicPr>
          <p:nvPr/>
        </p:nvPicPr>
        <p:blipFill>
          <a:blip r:embed="rId3"/>
          <a:srcRect/>
          <a:stretch/>
        </p:blipFill>
        <p:spPr>
          <a:xfrm>
            <a:off x="365760" y="1188720"/>
            <a:ext cx="4846320" cy="3657600"/>
          </a:xfrm>
          <a:prstGeom prst="rect">
            <a:avLst/>
          </a:prstGeom>
        </p:spPr>
      </p:pic>
      <p:sp>
        <p:nvSpPr>
          <p:cNvPr id="5" name="Shape 2"/>
          <p:cNvSpPr/>
          <p:nvPr/>
        </p:nvSpPr>
        <p:spPr>
          <a:xfrm>
            <a:off x="5394960" y="1280160"/>
            <a:ext cx="3474720" cy="640080"/>
          </a:xfrm>
          <a:prstGeom prst="roundRect">
            <a:avLst>
              <a:gd name="adj" fmla="val 8571"/>
            </a:avLst>
          </a:prstGeom>
          <a:solidFill>
            <a:srgbClr val="F8FAFC"/>
          </a:solidFill>
          <a:ln w="12700">
            <a:solidFill>
              <a:srgbClr val="E2E8F0"/>
            </a:solidFill>
            <a:prstDash val="solid"/>
          </a:ln>
        </p:spPr>
      </p:sp>
      <p:sp>
        <p:nvSpPr>
          <p:cNvPr id="6" name="Text 3"/>
          <p:cNvSpPr/>
          <p:nvPr/>
        </p:nvSpPr>
        <p:spPr>
          <a:xfrm>
            <a:off x="5532120" y="1353312"/>
            <a:ext cx="3200400" cy="2560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Records analyzed</a:t>
            </a:r>
            <a:endParaRPr lang="en-US" sz="1000" dirty="0"/>
          </a:p>
        </p:txBody>
      </p:sp>
      <p:sp>
        <p:nvSpPr>
          <p:cNvPr id="7" name="Text 4"/>
          <p:cNvSpPr/>
          <p:nvPr/>
        </p:nvSpPr>
        <p:spPr>
          <a:xfrm>
            <a:off x="5532120" y="1581912"/>
            <a:ext cx="3200400" cy="292608"/>
          </a:xfrm>
          <a:prstGeom prst="rect">
            <a:avLst/>
          </a:prstGeom>
          <a:noFill/>
          <a:ln/>
        </p:spPr>
        <p:txBody>
          <a:bodyPr wrap="square" rtlCol="0" anchor="ctr"/>
          <a:lstStyle/>
          <a:p>
            <a:pPr marL="0" indent="0">
              <a:buNone/>
            </a:pPr>
            <a:r>
              <a:rPr lang="en-US" sz="1400" b="1" dirty="0">
                <a:solidFill>
                  <a:srgbClr val="1D4ED8"/>
                </a:solidFill>
                <a:latin typeface="Cambria" pitchFamily="34" charset="0"/>
                <a:ea typeface="Cambria" pitchFamily="34" charset="-122"/>
                <a:cs typeface="Cambria" pitchFamily="34" charset="-120"/>
              </a:rPr>
              <a:t>298,277</a:t>
            </a:r>
            <a:endParaRPr lang="en-US" sz="1400" dirty="0"/>
          </a:p>
        </p:txBody>
      </p:sp>
      <p:sp>
        <p:nvSpPr>
          <p:cNvPr id="8" name="Shape 5"/>
          <p:cNvSpPr/>
          <p:nvPr/>
        </p:nvSpPr>
        <p:spPr>
          <a:xfrm>
            <a:off x="5394960" y="2057400"/>
            <a:ext cx="3474720" cy="640080"/>
          </a:xfrm>
          <a:prstGeom prst="roundRect">
            <a:avLst>
              <a:gd name="adj" fmla="val 8571"/>
            </a:avLst>
          </a:prstGeom>
          <a:solidFill>
            <a:srgbClr val="F8FAFC"/>
          </a:solidFill>
          <a:ln w="12700">
            <a:solidFill>
              <a:srgbClr val="E2E8F0"/>
            </a:solidFill>
            <a:prstDash val="solid"/>
          </a:ln>
        </p:spPr>
      </p:sp>
      <p:sp>
        <p:nvSpPr>
          <p:cNvPr id="9" name="Text 6"/>
          <p:cNvSpPr/>
          <p:nvPr/>
        </p:nvSpPr>
        <p:spPr>
          <a:xfrm>
            <a:off x="5532120" y="2130552"/>
            <a:ext cx="3200400" cy="2560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Hotspot zones found</a:t>
            </a:r>
            <a:endParaRPr lang="en-US" sz="1000" dirty="0"/>
          </a:p>
        </p:txBody>
      </p:sp>
      <p:sp>
        <p:nvSpPr>
          <p:cNvPr id="10" name="Text 7"/>
          <p:cNvSpPr/>
          <p:nvPr/>
        </p:nvSpPr>
        <p:spPr>
          <a:xfrm>
            <a:off x="5532120" y="2359152"/>
            <a:ext cx="3200400" cy="292608"/>
          </a:xfrm>
          <a:prstGeom prst="rect">
            <a:avLst/>
          </a:prstGeom>
          <a:noFill/>
          <a:ln/>
        </p:spPr>
        <p:txBody>
          <a:bodyPr wrap="square" rtlCol="0" anchor="ctr"/>
          <a:lstStyle/>
          <a:p>
            <a:pPr marL="0" indent="0">
              <a:buNone/>
            </a:pPr>
            <a:r>
              <a:rPr lang="en-US" sz="1400" b="1" dirty="0">
                <a:solidFill>
                  <a:srgbClr val="1D4ED8"/>
                </a:solidFill>
                <a:latin typeface="Cambria" pitchFamily="34" charset="0"/>
                <a:ea typeface="Cambria" pitchFamily="34" charset="-122"/>
                <a:cs typeface="Cambria" pitchFamily="34" charset="-120"/>
              </a:rPr>
              <a:t>312</a:t>
            </a:r>
            <a:endParaRPr lang="en-US" sz="1400" dirty="0"/>
          </a:p>
        </p:txBody>
      </p:sp>
      <p:sp>
        <p:nvSpPr>
          <p:cNvPr id="11" name="Shape 8"/>
          <p:cNvSpPr/>
          <p:nvPr/>
        </p:nvSpPr>
        <p:spPr>
          <a:xfrm>
            <a:off x="5394960" y="2834640"/>
            <a:ext cx="3474720" cy="640080"/>
          </a:xfrm>
          <a:prstGeom prst="roundRect">
            <a:avLst>
              <a:gd name="adj" fmla="val 8571"/>
            </a:avLst>
          </a:prstGeom>
          <a:solidFill>
            <a:srgbClr val="F8FAFC"/>
          </a:solidFill>
          <a:ln w="12700">
            <a:solidFill>
              <a:srgbClr val="E2E8F0"/>
            </a:solidFill>
            <a:prstDash val="solid"/>
          </a:ln>
        </p:spPr>
      </p:sp>
      <p:sp>
        <p:nvSpPr>
          <p:cNvPr id="12" name="Text 9"/>
          <p:cNvSpPr/>
          <p:nvPr/>
        </p:nvSpPr>
        <p:spPr>
          <a:xfrm>
            <a:off x="5532120" y="2907792"/>
            <a:ext cx="3200400" cy="2560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Noise points filtered</a:t>
            </a:r>
            <a:endParaRPr lang="en-US" sz="1000" dirty="0"/>
          </a:p>
        </p:txBody>
      </p:sp>
      <p:sp>
        <p:nvSpPr>
          <p:cNvPr id="13" name="Text 10"/>
          <p:cNvSpPr/>
          <p:nvPr/>
        </p:nvSpPr>
        <p:spPr>
          <a:xfrm>
            <a:off x="5532120" y="3136392"/>
            <a:ext cx="3200400" cy="292608"/>
          </a:xfrm>
          <a:prstGeom prst="rect">
            <a:avLst/>
          </a:prstGeom>
          <a:noFill/>
          <a:ln/>
        </p:spPr>
        <p:txBody>
          <a:bodyPr wrap="square" rtlCol="0" anchor="ctr"/>
          <a:lstStyle/>
          <a:p>
            <a:pPr marL="0" indent="0">
              <a:buNone/>
            </a:pPr>
            <a:r>
              <a:rPr lang="en-US" sz="1400" b="1" dirty="0">
                <a:solidFill>
                  <a:srgbClr val="1D4ED8"/>
                </a:solidFill>
                <a:latin typeface="Cambria" pitchFamily="34" charset="0"/>
                <a:ea typeface="Cambria" pitchFamily="34" charset="-122"/>
                <a:cs typeface="Cambria" pitchFamily="34" charset="-120"/>
              </a:rPr>
              <a:t>74,391 (24.9%)</a:t>
            </a:r>
            <a:endParaRPr lang="en-US" sz="1400" dirty="0"/>
          </a:p>
        </p:txBody>
      </p:sp>
      <p:sp>
        <p:nvSpPr>
          <p:cNvPr id="14" name="Shape 11"/>
          <p:cNvSpPr/>
          <p:nvPr/>
        </p:nvSpPr>
        <p:spPr>
          <a:xfrm>
            <a:off x="5394960" y="3611880"/>
            <a:ext cx="3474720" cy="640080"/>
          </a:xfrm>
          <a:prstGeom prst="roundRect">
            <a:avLst>
              <a:gd name="adj" fmla="val 8571"/>
            </a:avLst>
          </a:prstGeom>
          <a:solidFill>
            <a:srgbClr val="F8FAFC"/>
          </a:solidFill>
          <a:ln w="12700">
            <a:solidFill>
              <a:srgbClr val="E2E8F0"/>
            </a:solidFill>
            <a:prstDash val="solid"/>
          </a:ln>
        </p:spPr>
      </p:sp>
      <p:sp>
        <p:nvSpPr>
          <p:cNvPr id="15" name="Text 12"/>
          <p:cNvSpPr/>
          <p:nvPr/>
        </p:nvSpPr>
        <p:spPr>
          <a:xfrm>
            <a:off x="5532120" y="3685032"/>
            <a:ext cx="3200400" cy="2560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Method</a:t>
            </a:r>
            <a:endParaRPr lang="en-US" sz="1000" dirty="0"/>
          </a:p>
        </p:txBody>
      </p:sp>
      <p:sp>
        <p:nvSpPr>
          <p:cNvPr id="16" name="Text 13"/>
          <p:cNvSpPr/>
          <p:nvPr/>
        </p:nvSpPr>
        <p:spPr>
          <a:xfrm>
            <a:off x="5532120" y="3913632"/>
            <a:ext cx="3200400" cy="292608"/>
          </a:xfrm>
          <a:prstGeom prst="rect">
            <a:avLst/>
          </a:prstGeom>
          <a:noFill/>
          <a:ln/>
        </p:spPr>
        <p:txBody>
          <a:bodyPr wrap="square" rtlCol="0" anchor="ctr"/>
          <a:lstStyle/>
          <a:p>
            <a:pPr marL="0" indent="0">
              <a:buNone/>
            </a:pPr>
            <a:r>
              <a:rPr lang="en-US" sz="1400" b="1" dirty="0">
                <a:solidFill>
                  <a:srgbClr val="1D4ED8"/>
                </a:solidFill>
                <a:latin typeface="Cambria" pitchFamily="34" charset="0"/>
                <a:ea typeface="Cambria" pitchFamily="34" charset="-122"/>
                <a:cs typeface="Cambria" pitchFamily="34" charset="-120"/>
              </a:rPr>
              <a:t>Density-adaptive, no preset K</a:t>
            </a:r>
            <a:endParaRPr lang="en-US" sz="1400" dirty="0"/>
          </a:p>
        </p:txBody>
      </p:sp>
      <p:sp>
        <p:nvSpPr>
          <p:cNvPr id="17" name="Text 14"/>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8" name="Text 15"/>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STAGE 2 — CONGESTION PHYSICS</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Causal, Not Correlative</a:t>
            </a:r>
            <a:endParaRPr lang="en-US" sz="2600" dirty="0"/>
          </a:p>
        </p:txBody>
      </p:sp>
      <p:sp>
        <p:nvSpPr>
          <p:cNvPr id="4" name="Text 2"/>
          <p:cNvSpPr/>
          <p:nvPr/>
        </p:nvSpPr>
        <p:spPr>
          <a:xfrm>
            <a:off x="365760" y="1188720"/>
            <a:ext cx="8412480" cy="914400"/>
          </a:xfrm>
          <a:prstGeom prst="rect">
            <a:avLst/>
          </a:prstGeom>
          <a:noFill/>
          <a:ln/>
        </p:spPr>
        <p:txBody>
          <a:bodyPr wrap="square" rtlCol="0" anchor="ctr"/>
          <a:lstStyle/>
          <a:p>
            <a:pPr marL="0" indent="0">
              <a:lnSpc>
                <a:spcPct val="120000"/>
              </a:lnSpc>
              <a:buNone/>
            </a:pPr>
            <a:r>
              <a:rPr lang="en-US" sz="1250" dirty="0">
                <a:solidFill>
                  <a:srgbClr val="0F172A"/>
                </a:solidFill>
                <a:latin typeface="Calibri" pitchFamily="34" charset="0"/>
                <a:ea typeface="Calibri" pitchFamily="34" charset="-122"/>
                <a:cs typeface="Calibri" pitchFamily="34" charset="-120"/>
              </a:rPr>
              <a:t>Instead of just plotting colored dots on a map, we applied the Greenshields Fundamental Diagram and Lighthill–Whitham–Richards (LWR) Shockwave Theory — the same physics used in real traffic engineering — to calculate the actual lane capacity lost and the upstream queue length triggered by each illegally parked vehicle.</a:t>
            </a:r>
            <a:endParaRPr lang="en-US" sz="1250" dirty="0"/>
          </a:p>
        </p:txBody>
      </p:sp>
      <p:sp>
        <p:nvSpPr>
          <p:cNvPr id="5" name="Shape 3"/>
          <p:cNvSpPr/>
          <p:nvPr/>
        </p:nvSpPr>
        <p:spPr>
          <a:xfrm>
            <a:off x="365760" y="2240280"/>
            <a:ext cx="2697480" cy="1371600"/>
          </a:xfrm>
          <a:prstGeom prst="roundRect">
            <a:avLst>
              <a:gd name="adj" fmla="val 5333"/>
            </a:avLst>
          </a:prstGeom>
          <a:solidFill>
            <a:srgbClr val="FEE2E2"/>
          </a:solidFill>
          <a:ln w="12700">
            <a:solidFill>
              <a:srgbClr val="E2E8F0"/>
            </a:solidFill>
            <a:prstDash val="solid"/>
          </a:ln>
        </p:spPr>
      </p:sp>
      <p:sp>
        <p:nvSpPr>
          <p:cNvPr id="6" name="Text 4"/>
          <p:cNvSpPr/>
          <p:nvPr/>
        </p:nvSpPr>
        <p:spPr>
          <a:xfrm>
            <a:off x="365760" y="2350008"/>
            <a:ext cx="2697480" cy="754380"/>
          </a:xfrm>
          <a:prstGeom prst="rect">
            <a:avLst/>
          </a:prstGeom>
          <a:noFill/>
          <a:ln/>
        </p:spPr>
        <p:txBody>
          <a:bodyPr wrap="square" rtlCol="0" anchor="ctr"/>
          <a:lstStyle/>
          <a:p>
            <a:pPr marL="0" indent="0" algn="ctr">
              <a:buNone/>
            </a:pPr>
            <a:r>
              <a:rPr lang="en-US" sz="2600" b="1" dirty="0">
                <a:solidFill>
                  <a:srgbClr val="DC2626"/>
                </a:solidFill>
                <a:latin typeface="Cambria" pitchFamily="34" charset="0"/>
                <a:ea typeface="Cambria" pitchFamily="34" charset="-122"/>
                <a:cs typeface="Cambria" pitchFamily="34" charset="-120"/>
              </a:rPr>
              <a:t>94.0%</a:t>
            </a:r>
            <a:endParaRPr lang="en-US" sz="2600" dirty="0"/>
          </a:p>
        </p:txBody>
      </p:sp>
      <p:sp>
        <p:nvSpPr>
          <p:cNvPr id="7" name="Text 5"/>
          <p:cNvSpPr/>
          <p:nvPr/>
        </p:nvSpPr>
        <p:spPr>
          <a:xfrm>
            <a:off x="457200" y="3035808"/>
            <a:ext cx="2514600" cy="521208"/>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Worst-case capacity loss (Electronic City)</a:t>
            </a:r>
            <a:endParaRPr lang="en-US" sz="1050" dirty="0"/>
          </a:p>
        </p:txBody>
      </p:sp>
      <p:sp>
        <p:nvSpPr>
          <p:cNvPr id="8" name="Shape 6"/>
          <p:cNvSpPr/>
          <p:nvPr/>
        </p:nvSpPr>
        <p:spPr>
          <a:xfrm>
            <a:off x="3246120" y="2240280"/>
            <a:ext cx="2697480" cy="1371600"/>
          </a:xfrm>
          <a:prstGeom prst="roundRect">
            <a:avLst>
              <a:gd name="adj" fmla="val 5333"/>
            </a:avLst>
          </a:prstGeom>
          <a:solidFill>
            <a:srgbClr val="FEF3C7"/>
          </a:solidFill>
          <a:ln w="12700">
            <a:solidFill>
              <a:srgbClr val="E2E8F0"/>
            </a:solidFill>
            <a:prstDash val="solid"/>
          </a:ln>
        </p:spPr>
      </p:sp>
      <p:sp>
        <p:nvSpPr>
          <p:cNvPr id="9" name="Text 7"/>
          <p:cNvSpPr/>
          <p:nvPr/>
        </p:nvSpPr>
        <p:spPr>
          <a:xfrm>
            <a:off x="3246120" y="2350008"/>
            <a:ext cx="2697480" cy="754380"/>
          </a:xfrm>
          <a:prstGeom prst="rect">
            <a:avLst/>
          </a:prstGeom>
          <a:noFill/>
          <a:ln/>
        </p:spPr>
        <p:txBody>
          <a:bodyPr wrap="square" rtlCol="0" anchor="ctr"/>
          <a:lstStyle/>
          <a:p>
            <a:pPr marL="0" indent="0" algn="ctr">
              <a:buNone/>
            </a:pPr>
            <a:r>
              <a:rPr lang="en-US" sz="2600" b="1" dirty="0">
                <a:solidFill>
                  <a:srgbClr val="D97706"/>
                </a:solidFill>
                <a:latin typeface="Cambria" pitchFamily="34" charset="0"/>
                <a:ea typeface="Cambria" pitchFamily="34" charset="-122"/>
                <a:cs typeface="Cambria" pitchFamily="34" charset="-120"/>
              </a:rPr>
              <a:t>15.75 km</a:t>
            </a:r>
            <a:endParaRPr lang="en-US" sz="2600" dirty="0"/>
          </a:p>
        </p:txBody>
      </p:sp>
      <p:sp>
        <p:nvSpPr>
          <p:cNvPr id="10" name="Text 8"/>
          <p:cNvSpPr/>
          <p:nvPr/>
        </p:nvSpPr>
        <p:spPr>
          <a:xfrm>
            <a:off x="3337560" y="3035808"/>
            <a:ext cx="2514600" cy="521208"/>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Upstream queue length triggered</a:t>
            </a:r>
            <a:endParaRPr lang="en-US" sz="1050" dirty="0"/>
          </a:p>
        </p:txBody>
      </p:sp>
      <p:sp>
        <p:nvSpPr>
          <p:cNvPr id="11" name="Shape 9"/>
          <p:cNvSpPr/>
          <p:nvPr/>
        </p:nvSpPr>
        <p:spPr>
          <a:xfrm>
            <a:off x="6126480" y="2240280"/>
            <a:ext cx="2697480" cy="1371600"/>
          </a:xfrm>
          <a:prstGeom prst="roundRect">
            <a:avLst>
              <a:gd name="adj" fmla="val 5333"/>
            </a:avLst>
          </a:prstGeom>
          <a:solidFill>
            <a:srgbClr val="DBEAFE"/>
          </a:solidFill>
          <a:ln w="12700">
            <a:solidFill>
              <a:srgbClr val="E2E8F0"/>
            </a:solidFill>
            <a:prstDash val="solid"/>
          </a:ln>
        </p:spPr>
      </p:sp>
      <p:sp>
        <p:nvSpPr>
          <p:cNvPr id="12" name="Text 10"/>
          <p:cNvSpPr/>
          <p:nvPr/>
        </p:nvSpPr>
        <p:spPr>
          <a:xfrm>
            <a:off x="6126480" y="2350008"/>
            <a:ext cx="2697480" cy="754380"/>
          </a:xfrm>
          <a:prstGeom prst="rect">
            <a:avLst/>
          </a:prstGeom>
          <a:noFill/>
          <a:ln/>
        </p:spPr>
        <p:txBody>
          <a:bodyPr wrap="square" rtlCol="0" anchor="ctr"/>
          <a:lstStyle/>
          <a:p>
            <a:pPr marL="0" indent="0" algn="ctr">
              <a:buNone/>
            </a:pPr>
            <a:r>
              <a:rPr lang="en-US" sz="2600" b="1" dirty="0">
                <a:solidFill>
                  <a:srgbClr val="1D4ED8"/>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6217920" y="3035808"/>
            <a:ext cx="2514600" cy="521208"/>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Road lanes assumed per zone</a:t>
            </a:r>
            <a:endParaRPr lang="en-US" sz="1050" dirty="0"/>
          </a:p>
        </p:txBody>
      </p:sp>
      <p:sp>
        <p:nvSpPr>
          <p:cNvPr id="14" name="Shape 12"/>
          <p:cNvSpPr/>
          <p:nvPr/>
        </p:nvSpPr>
        <p:spPr>
          <a:xfrm>
            <a:off x="365760" y="3794760"/>
            <a:ext cx="8458200" cy="1051560"/>
          </a:xfrm>
          <a:prstGeom prst="roundRect">
            <a:avLst>
              <a:gd name="adj" fmla="val 6087"/>
            </a:avLst>
          </a:prstGeom>
          <a:solidFill>
            <a:srgbClr val="F8FAFC"/>
          </a:solidFill>
          <a:ln w="12700">
            <a:solidFill>
              <a:srgbClr val="E2E8F0"/>
            </a:solidFill>
            <a:prstDash val="solid"/>
          </a:ln>
        </p:spPr>
      </p:sp>
      <p:sp>
        <p:nvSpPr>
          <p:cNvPr id="15" name="Text 13"/>
          <p:cNvSpPr/>
          <p:nvPr/>
        </p:nvSpPr>
        <p:spPr>
          <a:xfrm>
            <a:off x="548640" y="3913632"/>
            <a:ext cx="1828800" cy="274320"/>
          </a:xfrm>
          <a:prstGeom prst="rect">
            <a:avLst/>
          </a:prstGeom>
          <a:noFill/>
          <a:ln/>
        </p:spPr>
        <p:txBody>
          <a:bodyPr wrap="square" rtlCol="0" anchor="ctr"/>
          <a:lstStyle/>
          <a:p>
            <a:pPr marL="0" indent="0">
              <a:buNone/>
            </a:pPr>
            <a:r>
              <a:rPr lang="en-US" sz="1000" b="1" kern="0" spc="200" dirty="0">
                <a:solidFill>
                  <a:srgbClr val="1D4ED8"/>
                </a:solidFill>
                <a:latin typeface="Cambria" pitchFamily="34" charset="0"/>
                <a:ea typeface="Cambria" pitchFamily="34" charset="-122"/>
                <a:cs typeface="Cambria" pitchFamily="34" charset="-120"/>
              </a:rPr>
              <a:t>KEY INSIGHT</a:t>
            </a:r>
            <a:endParaRPr lang="en-US" sz="1000" dirty="0"/>
          </a:p>
        </p:txBody>
      </p:sp>
      <p:sp>
        <p:nvSpPr>
          <p:cNvPr id="16" name="Text 14"/>
          <p:cNvSpPr/>
          <p:nvPr/>
        </p:nvSpPr>
        <p:spPr>
          <a:xfrm>
            <a:off x="548640" y="4206240"/>
            <a:ext cx="8092440" cy="594360"/>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A single illegally parked vehicle doesn't just block a lane — it triggers a backward-propagating shockwave that reduces arterial capacity for kilometers upstream. This is why naive violation-count ranking misses the real-world impact.</a:t>
            </a:r>
            <a:endParaRPr lang="en-US" sz="1100" dirty="0"/>
          </a:p>
        </p:txBody>
      </p:sp>
      <p:sp>
        <p:nvSpPr>
          <p:cNvPr id="17" name="Text 15"/>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8" name="Text 16"/>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STAGE 3 — PREDICTIVE FORECASTING</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Knowing What Happens Next, Not Just Now</a:t>
            </a:r>
            <a:endParaRPr lang="en-US" sz="2600" dirty="0"/>
          </a:p>
        </p:txBody>
      </p:sp>
      <p:pic>
        <p:nvPicPr>
          <p:cNvPr id="4" name="Image 0" descr="/home/claude/ppt_build/shap_importance_1h.png"/>
          <p:cNvPicPr>
            <a:picLocks noChangeAspect="1"/>
          </p:cNvPicPr>
          <p:nvPr/>
        </p:nvPicPr>
        <p:blipFill>
          <a:blip r:embed="rId3"/>
          <a:srcRect/>
          <a:stretch/>
        </p:blipFill>
        <p:spPr>
          <a:xfrm>
            <a:off x="5349240" y="1188720"/>
            <a:ext cx="3520440" cy="3657600"/>
          </a:xfrm>
          <a:prstGeom prst="rect">
            <a:avLst/>
          </a:prstGeom>
        </p:spPr>
      </p:pic>
      <p:sp>
        <p:nvSpPr>
          <p:cNvPr id="5" name="Text 2"/>
          <p:cNvSpPr/>
          <p:nvPr/>
        </p:nvSpPr>
        <p:spPr>
          <a:xfrm>
            <a:off x="365760" y="1234440"/>
            <a:ext cx="4754880" cy="365760"/>
          </a:xfrm>
          <a:prstGeom prst="rect">
            <a:avLst/>
          </a:prstGeom>
          <a:noFill/>
          <a:ln/>
        </p:spPr>
        <p:txBody>
          <a:bodyPr wrap="square" rtlCol="0" anchor="ctr"/>
          <a:lstStyle/>
          <a:p>
            <a:pPr marL="0" indent="0">
              <a:buNone/>
            </a:pPr>
            <a:r>
              <a:rPr lang="en-US" sz="1500" b="1" dirty="0">
                <a:solidFill>
                  <a:srgbClr val="0F172A"/>
                </a:solidFill>
                <a:latin typeface="Cambria" pitchFamily="34" charset="0"/>
                <a:ea typeface="Cambria" pitchFamily="34" charset="-122"/>
                <a:cs typeface="Cambria" pitchFamily="34" charset="-120"/>
              </a:rPr>
              <a:t>XGBoost + Temporal Lag Features</a:t>
            </a:r>
            <a:endParaRPr lang="en-US" sz="1500" dirty="0"/>
          </a:p>
        </p:txBody>
      </p:sp>
      <p:sp>
        <p:nvSpPr>
          <p:cNvPr id="6" name="Text 3"/>
          <p:cNvSpPr/>
          <p:nvPr/>
        </p:nvSpPr>
        <p:spPr>
          <a:xfrm>
            <a:off x="365760" y="1645920"/>
            <a:ext cx="4754880" cy="91440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 Gradient Boosted Decision Tree model trained on autoregressive lag features predicts congestion impact 1–3 hours into the future for every zone — shifting strategy from reactive to proactive.</a:t>
            </a:r>
            <a:endParaRPr lang="en-US" sz="1150" dirty="0"/>
          </a:p>
        </p:txBody>
      </p:sp>
      <p:sp>
        <p:nvSpPr>
          <p:cNvPr id="7" name="Shape 4"/>
          <p:cNvSpPr/>
          <p:nvPr/>
        </p:nvSpPr>
        <p:spPr>
          <a:xfrm>
            <a:off x="365760" y="2606040"/>
            <a:ext cx="4754880" cy="1280160"/>
          </a:xfrm>
          <a:prstGeom prst="roundRect">
            <a:avLst>
              <a:gd name="adj" fmla="val 5000"/>
            </a:avLst>
          </a:prstGeom>
          <a:solidFill>
            <a:srgbClr val="F8FAFC"/>
          </a:solidFill>
          <a:ln w="12700">
            <a:solidFill>
              <a:srgbClr val="E2E8F0"/>
            </a:solidFill>
            <a:prstDash val="solid"/>
          </a:ln>
        </p:spPr>
      </p:sp>
      <p:sp>
        <p:nvSpPr>
          <p:cNvPr id="8" name="Text 5"/>
          <p:cNvSpPr/>
          <p:nvPr/>
        </p:nvSpPr>
        <p:spPr>
          <a:xfrm>
            <a:off x="502920" y="2697480"/>
            <a:ext cx="4480560" cy="274320"/>
          </a:xfrm>
          <a:prstGeom prst="rect">
            <a:avLst/>
          </a:prstGeom>
          <a:noFill/>
          <a:ln/>
        </p:spPr>
        <p:txBody>
          <a:bodyPr wrap="square" rtlCol="0" anchor="ctr"/>
          <a:lstStyle/>
          <a:p>
            <a:pPr marL="0" indent="0">
              <a:buNone/>
            </a:pPr>
            <a:r>
              <a:rPr lang="en-US" sz="1050" b="1" dirty="0">
                <a:solidFill>
                  <a:srgbClr val="64748B"/>
                </a:solidFill>
                <a:latin typeface="Calibri" pitchFamily="34" charset="0"/>
                <a:ea typeface="Calibri" pitchFamily="34" charset="-122"/>
                <a:cs typeface="Calibri" pitchFamily="34" charset="-120"/>
              </a:rPr>
              <a:t>Example — Electronic City forecast:</a:t>
            </a:r>
            <a:endParaRPr lang="en-US" sz="1050" dirty="0"/>
          </a:p>
        </p:txBody>
      </p:sp>
      <p:sp>
        <p:nvSpPr>
          <p:cNvPr id="9" name="Text 6"/>
          <p:cNvSpPr/>
          <p:nvPr/>
        </p:nvSpPr>
        <p:spPr>
          <a:xfrm>
            <a:off x="502920" y="2971800"/>
            <a:ext cx="4480560" cy="822960"/>
          </a:xfrm>
          <a:prstGeom prst="rect">
            <a:avLst/>
          </a:prstGeom>
          <a:noFill/>
          <a:ln/>
        </p:spPr>
        <p:txBody>
          <a:bodyPr wrap="square" rtlCol="0" anchor="ctr"/>
          <a:lstStyle/>
          <a:p>
            <a:pPr marL="0" indent="0">
              <a:buNone/>
            </a:pPr>
            <a:r>
              <a:rPr lang="en-US" sz="1150" dirty="0">
                <a:solidFill>
                  <a:srgbClr val="0F172A"/>
                </a:solidFill>
                <a:latin typeface="Calibri" pitchFamily="34" charset="0"/>
                <a:ea typeface="Calibri" pitchFamily="34" charset="-122"/>
                <a:cs typeface="Calibri" pitchFamily="34" charset="-120"/>
              </a:rPr>
              <a:t>Capacity loss: 261 → 263 (1h ahead)</a:t>
            </a:r>
            <a:endParaRPr lang="en-US" sz="1150" dirty="0"/>
          </a:p>
          <a:p>
            <a:pPr marL="0" indent="0">
              <a:buNone/>
            </a:pPr>
            <a:r>
              <a:rPr lang="en-US" sz="1150" dirty="0">
                <a:solidFill>
                  <a:srgbClr val="0F172A"/>
                </a:solidFill>
                <a:latin typeface="Calibri" pitchFamily="34" charset="0"/>
                <a:ea typeface="Calibri" pitchFamily="34" charset="-122"/>
                <a:cs typeface="Calibri" pitchFamily="34" charset="-120"/>
              </a:rPr>
              <a:t>Forecast confidence backed by SHAP explainability</a:t>
            </a:r>
            <a:endParaRPr lang="en-US" sz="1150" dirty="0"/>
          </a:p>
        </p:txBody>
      </p:sp>
      <p:sp>
        <p:nvSpPr>
          <p:cNvPr id="10" name="Text 7"/>
          <p:cNvSpPr/>
          <p:nvPr/>
        </p:nvSpPr>
        <p:spPr>
          <a:xfrm>
            <a:off x="365760" y="4069080"/>
            <a:ext cx="4754880" cy="457200"/>
          </a:xfrm>
          <a:prstGeom prst="rect">
            <a:avLst/>
          </a:prstGeom>
          <a:noFill/>
          <a:ln/>
        </p:spPr>
        <p:txBody>
          <a:bodyPr wrap="square" rtlCol="0" anchor="ctr"/>
          <a:lstStyle/>
          <a:p>
            <a:pPr marL="0" indent="0">
              <a:buNone/>
            </a:pPr>
            <a:r>
              <a:rPr lang="en-US" sz="1100" i="1" dirty="0">
                <a:solidFill>
                  <a:srgbClr val="0891B2"/>
                </a:solidFill>
                <a:latin typeface="Calibri" pitchFamily="34" charset="0"/>
                <a:ea typeface="Calibri" pitchFamily="34" charset="-122"/>
                <a:cs typeface="Calibri" pitchFamily="34" charset="-120"/>
              </a:rPr>
              <a:t>SHAP keeps every prediction explainable to officers — not a black box.</a:t>
            </a:r>
            <a:endParaRPr lang="en-US" sz="1100" dirty="0"/>
          </a:p>
        </p:txBody>
      </p:sp>
      <p:sp>
        <p:nvSpPr>
          <p:cNvPr id="11" name="Text 8"/>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2" name="Text 9"/>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STAGE 4 — PRESCRIPTIVE OPTIMIZATION</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0-1 Knapsack: Where to Send Limited Resources</a:t>
            </a:r>
            <a:endParaRPr lang="en-US" sz="2600" dirty="0"/>
          </a:p>
        </p:txBody>
      </p:sp>
      <p:sp>
        <p:nvSpPr>
          <p:cNvPr id="4" name="Text 2"/>
          <p:cNvSpPr/>
          <p:nvPr/>
        </p:nvSpPr>
        <p:spPr>
          <a:xfrm>
            <a:off x="365760" y="1188720"/>
            <a:ext cx="8412480" cy="777240"/>
          </a:xfrm>
          <a:prstGeom prst="rect">
            <a:avLst/>
          </a:prstGeom>
          <a:noFill/>
          <a:ln/>
        </p:spPr>
        <p:txBody>
          <a:bodyPr wrap="square" rtlCol="0" anchor="ctr"/>
          <a:lstStyle/>
          <a:p>
            <a:pPr marL="0" indent="0">
              <a:lnSpc>
                <a:spcPct val="120000"/>
              </a:lnSpc>
              <a:buNone/>
            </a:pPr>
            <a:r>
              <a:rPr lang="en-US" sz="1250" dirty="0">
                <a:solidFill>
                  <a:srgbClr val="0F172A"/>
                </a:solidFill>
                <a:latin typeface="Calibri" pitchFamily="34" charset="0"/>
                <a:ea typeface="Calibri" pitchFamily="34" charset="-122"/>
                <a:cs typeface="Calibri" pitchFamily="34" charset="-120"/>
              </a:rPr>
              <a:t>Identifying hotspots is easy. Deploying limited tow trucks optimally is hard. We framed patrol deployment as a constrained optimization problem — given N trucks and a shift window, maximize total capacity recovered network-wide.</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2103120"/>
          <a:ext cx="8412480" cy="1920240"/>
        </p:xfrm>
        <a:graphic>
          <a:graphicData uri="http://schemas.openxmlformats.org/drawingml/2006/table">
            <a:tbl>
              <a:tblPr/>
              <a:tblGrid>
                <a:gridCol w="10058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0040">
                <a:tc>
                  <a:txBody>
                    <a:bodyPr/>
                    <a:lstStyle/>
                    <a:p>
                      <a:pPr marL="0" indent="0">
                        <a:buNone/>
                      </a:pPr>
                      <a:r>
                        <a:rPr lang="en-US" sz="1050" b="1" dirty="0">
                          <a:solidFill>
                            <a:srgbClr val="FFFFFF"/>
                          </a:solidFill>
                          <a:latin typeface="Cambria" pitchFamily="34" charset="0"/>
                          <a:ea typeface="Cambria" pitchFamily="34" charset="-122"/>
                          <a:cs typeface="Cambria" pitchFamily="34" charset="-120"/>
                        </a:rPr>
                        <a:t>Priority</a:t>
                      </a:r>
                      <a:endParaRPr lang="en-US" sz="1050" dirty="0">
                        <a:latin typeface="Cambria" charset="0"/>
                        <a:ea typeface="Cambria" charset="0"/>
                        <a:cs typeface="Cambria"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050" b="1" dirty="0">
                          <a:solidFill>
                            <a:srgbClr val="FFFFFF"/>
                          </a:solidFill>
                          <a:latin typeface="Cambria" pitchFamily="34" charset="0"/>
                          <a:ea typeface="Cambria" pitchFamily="34" charset="-122"/>
                          <a:cs typeface="Cambria" pitchFamily="34" charset="-120"/>
                        </a:rPr>
                        <a:t>Zone</a:t>
                      </a:r>
                      <a:endParaRPr lang="en-US" sz="1050" dirty="0">
                        <a:latin typeface="Cambria" charset="0"/>
                        <a:ea typeface="Cambria" charset="0"/>
                        <a:cs typeface="Cambria"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050" b="1" dirty="0">
                          <a:solidFill>
                            <a:srgbClr val="FFFFFF"/>
                          </a:solidFill>
                          <a:latin typeface="Cambria" pitchFamily="34" charset="0"/>
                          <a:ea typeface="Cambria" pitchFamily="34" charset="-122"/>
                          <a:cs typeface="Cambria" pitchFamily="34" charset="-120"/>
                        </a:rPr>
                        <a:t>Dispatch Value</a:t>
                      </a:r>
                      <a:endParaRPr lang="en-US" sz="1050" dirty="0">
                        <a:latin typeface="Cambria" charset="0"/>
                        <a:ea typeface="Cambria" charset="0"/>
                        <a:cs typeface="Cambria"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050" b="1" dirty="0">
                          <a:solidFill>
                            <a:srgbClr val="FFFFFF"/>
                          </a:solidFill>
                          <a:latin typeface="Cambria" pitchFamily="34" charset="0"/>
                          <a:ea typeface="Cambria" pitchFamily="34" charset="-122"/>
                          <a:cs typeface="Cambria" pitchFamily="34" charset="-120"/>
                        </a:rPr>
                        <a:t>Violations</a:t>
                      </a:r>
                      <a:endParaRPr lang="en-US" sz="1050" dirty="0">
                        <a:latin typeface="Cambria" charset="0"/>
                        <a:ea typeface="Cambria" charset="0"/>
                        <a:cs typeface="Cambria"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050" b="1" dirty="0">
                          <a:solidFill>
                            <a:srgbClr val="FFFFFF"/>
                          </a:solidFill>
                          <a:latin typeface="Cambria" pitchFamily="34" charset="0"/>
                          <a:ea typeface="Cambria" pitchFamily="34" charset="-122"/>
                          <a:cs typeface="Cambria" pitchFamily="34" charset="-120"/>
                        </a:rPr>
                        <a:t>Travel Time</a:t>
                      </a:r>
                      <a:endParaRPr lang="en-US" sz="1050" dirty="0">
                        <a:latin typeface="Cambria" charset="0"/>
                        <a:ea typeface="Cambria" charset="0"/>
                        <a:cs typeface="Cambria"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Pulikeshinagar (F.Town)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313.29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245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18 min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Bellandur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277.65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59 min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K.R. Pura (Zone A)</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191.03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129</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71 min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K.R. Pura (Zone B)</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190.71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282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60 min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20040">
                <a:tc>
                  <a:txBody>
                    <a:bodyPr/>
                    <a:lstStyle/>
                    <a:p>
                      <a:pPr marL="0" indent="0">
                        <a:buNone/>
                      </a:pPr>
                      <a:r>
                        <a:rPr lang="en-US" sz="1100" b="1" dirty="0">
                          <a:solidFill>
                            <a:srgbClr val="0F172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Malleshwaram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190.10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134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18 min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365760" y="4206240"/>
            <a:ext cx="8412480" cy="685800"/>
          </a:xfrm>
          <a:prstGeom prst="roundRect">
            <a:avLst>
              <a:gd name="adj" fmla="val 9333"/>
            </a:avLst>
          </a:prstGeom>
          <a:solidFill>
            <a:srgbClr val="DBEAFE"/>
          </a:solidFill>
          <a:ln/>
        </p:spPr>
      </p:sp>
      <p:sp>
        <p:nvSpPr>
          <p:cNvPr id="7" name="Text 4"/>
          <p:cNvSpPr/>
          <p:nvPr/>
        </p:nvSpPr>
        <p:spPr>
          <a:xfrm>
            <a:off x="502920" y="4279392"/>
            <a:ext cx="2926080" cy="274320"/>
          </a:xfrm>
          <a:prstGeom prst="rect">
            <a:avLst/>
          </a:prstGeom>
          <a:noFill/>
          <a:ln/>
        </p:spPr>
        <p:txBody>
          <a:bodyPr wrap="square" rtlCol="0" anchor="ctr"/>
          <a:lstStyle/>
          <a:p>
            <a:pPr marL="0" indent="0">
              <a:buNone/>
            </a:pPr>
            <a:r>
              <a:rPr lang="en-US" sz="900" b="1" kern="0" spc="100" dirty="0">
                <a:solidFill>
                  <a:srgbClr val="1D4ED8"/>
                </a:solidFill>
                <a:latin typeface="Cambria" pitchFamily="34" charset="0"/>
                <a:ea typeface="Cambria" pitchFamily="34" charset="-122"/>
                <a:cs typeface="Cambria" pitchFamily="34" charset="-120"/>
              </a:rPr>
              <a:t>WHY THIS ISN'T JUST SORTED BY SEVERITY</a:t>
            </a:r>
            <a:endParaRPr lang="en-US" sz="900" dirty="0"/>
          </a:p>
        </p:txBody>
      </p:sp>
      <p:sp>
        <p:nvSpPr>
          <p:cNvPr id="8" name="Text 5"/>
          <p:cNvSpPr/>
          <p:nvPr/>
        </p:nvSpPr>
        <p:spPr>
          <a:xfrm>
            <a:off x="502920" y="4553712"/>
            <a:ext cx="8229600" cy="365760"/>
          </a:xfrm>
          <a:prstGeom prst="rect">
            <a:avLst/>
          </a:prstGeom>
          <a:noFill/>
          <a:ln/>
        </p:spPr>
        <p:txBody>
          <a:bodyPr wrap="square" rtlCol="0" anchor="ctr"/>
          <a:lstStyle/>
          <a:p>
            <a:pPr marL="0" indent="0">
              <a:buNone/>
            </a:pPr>
            <a:r>
              <a:rPr lang="en-US" sz="950" dirty="0">
                <a:solidFill>
                  <a:srgbClr val="0F172A"/>
                </a:solidFill>
                <a:latin typeface="Calibri" pitchFamily="34" charset="0"/>
                <a:ea typeface="Calibri" pitchFamily="34" charset="-122"/>
                <a:cs typeface="Calibri" pitchFamily="34" charset="-120"/>
              </a:rPr>
              <a:t>Dispatch value accounts for predicted impact AND travel cost — the optimizer can rank a lower-severity-but-closer zone above a higher-severity-but-distant one, maximizing total city-wide recovery per truck-hour.</a:t>
            </a:r>
            <a:endParaRPr lang="en-US" sz="950" dirty="0"/>
          </a:p>
        </p:txBody>
      </p:sp>
      <p:sp>
        <p:nvSpPr>
          <p:cNvPr id="5" name="Text 6"/>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0" name="Text 7"/>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RESULTS</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What the Numbers Say</a:t>
            </a:r>
            <a:endParaRPr lang="en-US" sz="2600" dirty="0"/>
          </a:p>
        </p:txBody>
      </p:sp>
      <p:sp>
        <p:nvSpPr>
          <p:cNvPr id="4" name="Shape 2"/>
          <p:cNvSpPr/>
          <p:nvPr/>
        </p:nvSpPr>
        <p:spPr>
          <a:xfrm>
            <a:off x="365760" y="1234440"/>
            <a:ext cx="2651760" cy="1600200"/>
          </a:xfrm>
          <a:prstGeom prst="roundRect">
            <a:avLst>
              <a:gd name="adj" fmla="val 4571"/>
            </a:avLst>
          </a:prstGeom>
          <a:solidFill>
            <a:srgbClr val="DBEAFE"/>
          </a:solidFill>
          <a:ln w="12700">
            <a:solidFill>
              <a:srgbClr val="E2E8F0"/>
            </a:solidFill>
            <a:prstDash val="solid"/>
          </a:ln>
        </p:spPr>
      </p:sp>
      <p:sp>
        <p:nvSpPr>
          <p:cNvPr id="5" name="Text 3"/>
          <p:cNvSpPr/>
          <p:nvPr/>
        </p:nvSpPr>
        <p:spPr>
          <a:xfrm>
            <a:off x="365760" y="1344168"/>
            <a:ext cx="2651760" cy="880110"/>
          </a:xfrm>
          <a:prstGeom prst="rect">
            <a:avLst/>
          </a:prstGeom>
          <a:noFill/>
          <a:ln/>
        </p:spPr>
        <p:txBody>
          <a:bodyPr wrap="square" rtlCol="0" anchor="ctr"/>
          <a:lstStyle/>
          <a:p>
            <a:pPr marL="0" indent="0" algn="ctr">
              <a:buNone/>
            </a:pPr>
            <a:r>
              <a:rPr lang="en-US" sz="2600" b="1" dirty="0">
                <a:solidFill>
                  <a:srgbClr val="1D4ED8"/>
                </a:solidFill>
                <a:latin typeface="Cambria" pitchFamily="34" charset="0"/>
                <a:ea typeface="Cambria" pitchFamily="34" charset="-122"/>
                <a:cs typeface="Cambria" pitchFamily="34" charset="-120"/>
              </a:rPr>
              <a:t>298,277</a:t>
            </a:r>
            <a:endParaRPr lang="en-US" sz="2600" dirty="0"/>
          </a:p>
        </p:txBody>
      </p:sp>
      <p:sp>
        <p:nvSpPr>
          <p:cNvPr id="6" name="Text 4"/>
          <p:cNvSpPr/>
          <p:nvPr/>
        </p:nvSpPr>
        <p:spPr>
          <a:xfrm>
            <a:off x="457200" y="2162556"/>
            <a:ext cx="2468880" cy="608076"/>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Records Processed (post-cleaning)</a:t>
            </a:r>
            <a:endParaRPr lang="en-US" sz="1050" dirty="0"/>
          </a:p>
        </p:txBody>
      </p:sp>
      <p:sp>
        <p:nvSpPr>
          <p:cNvPr id="7" name="Shape 5"/>
          <p:cNvSpPr/>
          <p:nvPr/>
        </p:nvSpPr>
        <p:spPr>
          <a:xfrm>
            <a:off x="3227832" y="1234440"/>
            <a:ext cx="2651760" cy="1600200"/>
          </a:xfrm>
          <a:prstGeom prst="roundRect">
            <a:avLst>
              <a:gd name="adj" fmla="val 4571"/>
            </a:avLst>
          </a:prstGeom>
          <a:solidFill>
            <a:srgbClr val="F8FAFC"/>
          </a:solidFill>
          <a:ln w="12700">
            <a:solidFill>
              <a:srgbClr val="E2E8F0"/>
            </a:solidFill>
            <a:prstDash val="solid"/>
          </a:ln>
        </p:spPr>
      </p:sp>
      <p:sp>
        <p:nvSpPr>
          <p:cNvPr id="8" name="Text 6"/>
          <p:cNvSpPr/>
          <p:nvPr/>
        </p:nvSpPr>
        <p:spPr>
          <a:xfrm>
            <a:off x="3227832" y="1344168"/>
            <a:ext cx="2651760" cy="880110"/>
          </a:xfrm>
          <a:prstGeom prst="rect">
            <a:avLst/>
          </a:prstGeom>
          <a:noFill/>
          <a:ln/>
        </p:spPr>
        <p:txBody>
          <a:bodyPr wrap="square" rtlCol="0" anchor="ctr"/>
          <a:lstStyle/>
          <a:p>
            <a:pPr marL="0" indent="0" algn="ctr">
              <a:buNone/>
            </a:pPr>
            <a:r>
              <a:rPr lang="en-US" sz="2600" b="1" dirty="0">
                <a:solidFill>
                  <a:srgbClr val="0891B2"/>
                </a:solidFill>
                <a:latin typeface="Cambria" pitchFamily="34" charset="0"/>
                <a:ea typeface="Cambria" pitchFamily="34" charset="-122"/>
                <a:cs typeface="Cambria" pitchFamily="34" charset="-120"/>
              </a:rPr>
              <a:t>312</a:t>
            </a:r>
            <a:endParaRPr lang="en-US" sz="2600" dirty="0"/>
          </a:p>
        </p:txBody>
      </p:sp>
      <p:sp>
        <p:nvSpPr>
          <p:cNvPr id="9" name="Text 7"/>
          <p:cNvSpPr/>
          <p:nvPr/>
        </p:nvSpPr>
        <p:spPr>
          <a:xfrm>
            <a:off x="3319272" y="2162556"/>
            <a:ext cx="2468880" cy="608076"/>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Hotspot Zones (HDBSCAN)</a:t>
            </a:r>
            <a:endParaRPr lang="en-US" sz="1050" dirty="0"/>
          </a:p>
        </p:txBody>
      </p:sp>
      <p:sp>
        <p:nvSpPr>
          <p:cNvPr id="10" name="Shape 8"/>
          <p:cNvSpPr/>
          <p:nvPr/>
        </p:nvSpPr>
        <p:spPr>
          <a:xfrm>
            <a:off x="6089904" y="1234440"/>
            <a:ext cx="2651760" cy="1600200"/>
          </a:xfrm>
          <a:prstGeom prst="roundRect">
            <a:avLst>
              <a:gd name="adj" fmla="val 4571"/>
            </a:avLst>
          </a:prstGeom>
          <a:solidFill>
            <a:srgbClr val="FEE2E2"/>
          </a:solidFill>
          <a:ln w="12700">
            <a:solidFill>
              <a:srgbClr val="E2E8F0"/>
            </a:solidFill>
            <a:prstDash val="solid"/>
          </a:ln>
        </p:spPr>
      </p:sp>
      <p:sp>
        <p:nvSpPr>
          <p:cNvPr id="11" name="Text 9"/>
          <p:cNvSpPr/>
          <p:nvPr/>
        </p:nvSpPr>
        <p:spPr>
          <a:xfrm>
            <a:off x="6089904" y="1344168"/>
            <a:ext cx="2651760" cy="880110"/>
          </a:xfrm>
          <a:prstGeom prst="rect">
            <a:avLst/>
          </a:prstGeom>
          <a:noFill/>
          <a:ln/>
        </p:spPr>
        <p:txBody>
          <a:bodyPr wrap="square" rtlCol="0" anchor="ctr"/>
          <a:lstStyle/>
          <a:p>
            <a:pPr marL="0" indent="0" algn="ctr">
              <a:buNone/>
            </a:pPr>
            <a:r>
              <a:rPr lang="en-US" sz="2600" b="1" dirty="0">
                <a:solidFill>
                  <a:srgbClr val="DC2626"/>
                </a:solidFill>
                <a:latin typeface="Cambria" pitchFamily="34" charset="0"/>
                <a:ea typeface="Cambria" pitchFamily="34" charset="-122"/>
                <a:cs typeface="Cambria" pitchFamily="34" charset="-120"/>
              </a:rPr>
              <a:t>94%</a:t>
            </a:r>
            <a:endParaRPr lang="en-US" sz="2600" dirty="0"/>
          </a:p>
        </p:txBody>
      </p:sp>
      <p:sp>
        <p:nvSpPr>
          <p:cNvPr id="12" name="Text 10"/>
          <p:cNvSpPr/>
          <p:nvPr/>
        </p:nvSpPr>
        <p:spPr>
          <a:xfrm>
            <a:off x="6181344" y="2162556"/>
            <a:ext cx="2468880" cy="608076"/>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Worst-Case Capacity Loss</a:t>
            </a:r>
            <a:endParaRPr lang="en-US" sz="1050" dirty="0"/>
          </a:p>
        </p:txBody>
      </p:sp>
      <p:sp>
        <p:nvSpPr>
          <p:cNvPr id="13" name="Shape 11"/>
          <p:cNvSpPr/>
          <p:nvPr/>
        </p:nvSpPr>
        <p:spPr>
          <a:xfrm>
            <a:off x="365760" y="3017520"/>
            <a:ext cx="2651760" cy="1600200"/>
          </a:xfrm>
          <a:prstGeom prst="roundRect">
            <a:avLst>
              <a:gd name="adj" fmla="val 4571"/>
            </a:avLst>
          </a:prstGeom>
          <a:solidFill>
            <a:srgbClr val="FEF3C7"/>
          </a:solidFill>
          <a:ln w="12700">
            <a:solidFill>
              <a:srgbClr val="E2E8F0"/>
            </a:solidFill>
            <a:prstDash val="solid"/>
          </a:ln>
        </p:spPr>
      </p:sp>
      <p:sp>
        <p:nvSpPr>
          <p:cNvPr id="14" name="Text 12"/>
          <p:cNvSpPr/>
          <p:nvPr/>
        </p:nvSpPr>
        <p:spPr>
          <a:xfrm>
            <a:off x="365760" y="3127248"/>
            <a:ext cx="2651760" cy="880110"/>
          </a:xfrm>
          <a:prstGeom prst="rect">
            <a:avLst/>
          </a:prstGeom>
          <a:noFill/>
          <a:ln/>
        </p:spPr>
        <p:txBody>
          <a:bodyPr wrap="square" rtlCol="0" anchor="ctr"/>
          <a:lstStyle/>
          <a:p>
            <a:pPr marL="0" indent="0" algn="ctr">
              <a:buNone/>
            </a:pPr>
            <a:r>
              <a:rPr lang="en-US" sz="2600" b="1" dirty="0">
                <a:solidFill>
                  <a:srgbClr val="D97706"/>
                </a:solidFill>
                <a:latin typeface="Cambria" pitchFamily="34" charset="0"/>
                <a:ea typeface="Cambria" pitchFamily="34" charset="-122"/>
                <a:cs typeface="Cambria" pitchFamily="34" charset="-120"/>
              </a:rPr>
              <a:t>₹9.2 Cr</a:t>
            </a:r>
            <a:endParaRPr lang="en-US" sz="2600" dirty="0"/>
          </a:p>
        </p:txBody>
      </p:sp>
      <p:sp>
        <p:nvSpPr>
          <p:cNvPr id="15" name="Text 13"/>
          <p:cNvSpPr/>
          <p:nvPr/>
        </p:nvSpPr>
        <p:spPr>
          <a:xfrm>
            <a:off x="457200" y="3945636"/>
            <a:ext cx="2468880" cy="608076"/>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Est. Annual Cost (Top 20 zones)</a:t>
            </a:r>
            <a:endParaRPr lang="en-US" sz="1050" dirty="0"/>
          </a:p>
        </p:txBody>
      </p:sp>
      <p:sp>
        <p:nvSpPr>
          <p:cNvPr id="16" name="Shape 14"/>
          <p:cNvSpPr/>
          <p:nvPr/>
        </p:nvSpPr>
        <p:spPr>
          <a:xfrm>
            <a:off x="3227832" y="3017520"/>
            <a:ext cx="2651760" cy="1600200"/>
          </a:xfrm>
          <a:prstGeom prst="roundRect">
            <a:avLst>
              <a:gd name="adj" fmla="val 4571"/>
            </a:avLst>
          </a:prstGeom>
          <a:solidFill>
            <a:srgbClr val="DCFCE7"/>
          </a:solidFill>
          <a:ln w="12700">
            <a:solidFill>
              <a:srgbClr val="E2E8F0"/>
            </a:solidFill>
            <a:prstDash val="solid"/>
          </a:ln>
        </p:spPr>
      </p:sp>
      <p:sp>
        <p:nvSpPr>
          <p:cNvPr id="17" name="Text 15"/>
          <p:cNvSpPr/>
          <p:nvPr/>
        </p:nvSpPr>
        <p:spPr>
          <a:xfrm>
            <a:off x="3227832" y="3127248"/>
            <a:ext cx="2651760" cy="880110"/>
          </a:xfrm>
          <a:prstGeom prst="rect">
            <a:avLst/>
          </a:prstGeom>
          <a:noFill/>
          <a:ln/>
        </p:spPr>
        <p:txBody>
          <a:bodyPr wrap="square" rtlCol="0" anchor="ctr"/>
          <a:lstStyle/>
          <a:p>
            <a:pPr marL="0" indent="0" algn="ctr">
              <a:buNone/>
            </a:pPr>
            <a:r>
              <a:rPr lang="en-US" sz="2600" b="1" dirty="0">
                <a:solidFill>
                  <a:srgbClr val="16A34A"/>
                </a:solidFill>
                <a:latin typeface="Cambria" pitchFamily="34" charset="0"/>
                <a:ea typeface="Cambria" pitchFamily="34" charset="-122"/>
                <a:cs typeface="Cambria" pitchFamily="34" charset="-120"/>
              </a:rPr>
              <a:t>10.5%</a:t>
            </a:r>
            <a:endParaRPr lang="en-US" sz="2600" dirty="0"/>
          </a:p>
        </p:txBody>
      </p:sp>
      <p:sp>
        <p:nvSpPr>
          <p:cNvPr id="18" name="Text 16"/>
          <p:cNvSpPr/>
          <p:nvPr/>
        </p:nvSpPr>
        <p:spPr>
          <a:xfrm>
            <a:off x="3319272" y="3945636"/>
            <a:ext cx="2468880" cy="608076"/>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City-wide Impact Cut (Top 5 zones)</a:t>
            </a:r>
            <a:endParaRPr lang="en-US" sz="1050" dirty="0"/>
          </a:p>
        </p:txBody>
      </p:sp>
      <p:sp>
        <p:nvSpPr>
          <p:cNvPr id="19" name="Shape 17"/>
          <p:cNvSpPr/>
          <p:nvPr/>
        </p:nvSpPr>
        <p:spPr>
          <a:xfrm>
            <a:off x="6089904" y="3017520"/>
            <a:ext cx="2651760" cy="1600200"/>
          </a:xfrm>
          <a:prstGeom prst="roundRect">
            <a:avLst>
              <a:gd name="adj" fmla="val 4571"/>
            </a:avLst>
          </a:prstGeom>
          <a:solidFill>
            <a:srgbClr val="F8FAFC"/>
          </a:solidFill>
          <a:ln w="12700">
            <a:solidFill>
              <a:srgbClr val="E2E8F0"/>
            </a:solidFill>
            <a:prstDash val="solid"/>
          </a:ln>
        </p:spPr>
      </p:sp>
      <p:sp>
        <p:nvSpPr>
          <p:cNvPr id="20" name="Text 18"/>
          <p:cNvSpPr/>
          <p:nvPr/>
        </p:nvSpPr>
        <p:spPr>
          <a:xfrm>
            <a:off x="6089904" y="3127248"/>
            <a:ext cx="2651760" cy="880110"/>
          </a:xfrm>
          <a:prstGeom prst="rect">
            <a:avLst/>
          </a:prstGeom>
          <a:noFill/>
          <a:ln/>
        </p:spPr>
        <p:txBody>
          <a:bodyPr wrap="square" rtlCol="0" anchor="ctr"/>
          <a:lstStyle/>
          <a:p>
            <a:pPr marL="0" indent="0" algn="ctr">
              <a:buNone/>
            </a:pPr>
            <a:r>
              <a:rPr lang="en-US" sz="2600" b="1" dirty="0">
                <a:solidFill>
                  <a:srgbClr val="0F172A"/>
                </a:solidFill>
                <a:latin typeface="Cambria" pitchFamily="34" charset="0"/>
                <a:ea typeface="Cambria" pitchFamily="34" charset="-122"/>
                <a:cs typeface="Cambria" pitchFamily="34" charset="-120"/>
              </a:rPr>
              <a:t>552</a:t>
            </a:r>
            <a:endParaRPr lang="en-US" sz="2600" dirty="0"/>
          </a:p>
        </p:txBody>
      </p:sp>
      <p:sp>
        <p:nvSpPr>
          <p:cNvPr id="21" name="Text 19"/>
          <p:cNvSpPr/>
          <p:nvPr/>
        </p:nvSpPr>
        <p:spPr>
          <a:xfrm>
            <a:off x="6181344" y="3945636"/>
            <a:ext cx="2468880" cy="608076"/>
          </a:xfrm>
          <a:prstGeom prst="rect">
            <a:avLst/>
          </a:prstGeom>
          <a:noFill/>
          <a:ln/>
        </p:spPr>
        <p:txBody>
          <a:bodyPr wrap="square" rtlCol="0" anchor="t"/>
          <a:lstStyle/>
          <a:p>
            <a:pPr marL="0" indent="0" algn="ctr">
              <a:buNone/>
            </a:pPr>
            <a:r>
              <a:rPr lang="en-US" sz="1050" dirty="0">
                <a:solidFill>
                  <a:srgbClr val="64748B"/>
                </a:solidFill>
                <a:latin typeface="Calibri" pitchFamily="34" charset="0"/>
                <a:ea typeface="Calibri" pitchFamily="34" charset="-122"/>
                <a:cs typeface="Calibri" pitchFamily="34" charset="-120"/>
              </a:rPr>
              <a:t>Chronic Repeat Offenders</a:t>
            </a:r>
            <a:endParaRPr lang="en-US" sz="1050" dirty="0"/>
          </a:p>
        </p:txBody>
      </p:sp>
      <p:sp>
        <p:nvSpPr>
          <p:cNvPr id="22" name="Text 20"/>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23" name="Text 21"/>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PROTOTYPE</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Police Command Center — Live Dashboard</a:t>
            </a:r>
            <a:endParaRPr lang="en-US" sz="2600" dirty="0"/>
          </a:p>
        </p:txBody>
      </p:sp>
      <p:pic>
        <p:nvPicPr>
          <p:cNvPr id="4" name="Image 0" descr="/home/claude/ppt_build/07_priority_zones.png"/>
          <p:cNvPicPr>
            <a:picLocks noChangeAspect="1"/>
          </p:cNvPicPr>
          <p:nvPr/>
        </p:nvPicPr>
        <p:blipFill>
          <a:blip r:embed="rId3"/>
          <a:srcRect/>
          <a:stretch/>
        </p:blipFill>
        <p:spPr>
          <a:xfrm>
            <a:off x="365760" y="1188720"/>
            <a:ext cx="4937760" cy="3611880"/>
          </a:xfrm>
          <a:prstGeom prst="rect">
            <a:avLst/>
          </a:prstGeom>
        </p:spPr>
      </p:pic>
      <p:sp>
        <p:nvSpPr>
          <p:cNvPr id="5" name="Text 2"/>
          <p:cNvSpPr/>
          <p:nvPr/>
        </p:nvSpPr>
        <p:spPr>
          <a:xfrm>
            <a:off x="5486400" y="1280160"/>
            <a:ext cx="3383280" cy="530352"/>
          </a:xfrm>
          <a:prstGeom prst="rect">
            <a:avLst/>
          </a:prstGeom>
          <a:noFill/>
          <a:ln/>
        </p:spPr>
        <p:txBody>
          <a:bodyPr wrap="square" rtlCol="0" anchor="ctr"/>
          <a:lstStyle/>
          <a:p>
            <a:pPr marL="0" indent="0">
              <a:buNone/>
            </a:pPr>
            <a:r>
              <a:rPr lang="en-US" sz="1050" dirty="0">
                <a:solidFill>
                  <a:srgbClr val="0F172A"/>
                </a:solidFill>
                <a:latin typeface="Calibri" pitchFamily="34" charset="0"/>
                <a:ea typeface="Calibri" pitchFamily="34" charset="-122"/>
                <a:cs typeface="Calibri" pitchFamily="34" charset="-120"/>
              </a:rPr>
              <a:t>•  White-mode layout — built for daylight legibility in the field, not a dark cinematic demo</a:t>
            </a:r>
            <a:endParaRPr lang="en-US" sz="1050" dirty="0"/>
          </a:p>
        </p:txBody>
      </p:sp>
      <p:sp>
        <p:nvSpPr>
          <p:cNvPr id="6" name="Text 3"/>
          <p:cNvSpPr/>
          <p:nvPr/>
        </p:nvSpPr>
        <p:spPr>
          <a:xfrm>
            <a:off x="5486400" y="1847088"/>
            <a:ext cx="3383280" cy="530352"/>
          </a:xfrm>
          <a:prstGeom prst="rect">
            <a:avLst/>
          </a:prstGeom>
          <a:noFill/>
          <a:ln/>
        </p:spPr>
        <p:txBody>
          <a:bodyPr wrap="square" rtlCol="0" anchor="ctr"/>
          <a:lstStyle/>
          <a:p>
            <a:pPr marL="0" indent="0">
              <a:buNone/>
            </a:pPr>
            <a:r>
              <a:rPr lang="en-US" sz="1050" dirty="0">
                <a:solidFill>
                  <a:srgbClr val="0F172A"/>
                </a:solidFill>
                <a:latin typeface="Calibri" pitchFamily="34" charset="0"/>
                <a:ea typeface="Calibri" pitchFamily="34" charset="-122"/>
                <a:cs typeface="Calibri" pitchFamily="34" charset="-120"/>
              </a:rPr>
              <a:t>•  Live risk badges: CRITICAL / HIGH / ELEVATED / CLEAR, updating in real time</a:t>
            </a:r>
            <a:endParaRPr lang="en-US" sz="1050" dirty="0"/>
          </a:p>
        </p:txBody>
      </p:sp>
      <p:sp>
        <p:nvSpPr>
          <p:cNvPr id="7" name="Text 4"/>
          <p:cNvSpPr/>
          <p:nvPr/>
        </p:nvSpPr>
        <p:spPr>
          <a:xfrm>
            <a:off x="5486400" y="2414016"/>
            <a:ext cx="3383280" cy="530352"/>
          </a:xfrm>
          <a:prstGeom prst="rect">
            <a:avLst/>
          </a:prstGeom>
          <a:noFill/>
          <a:ln/>
        </p:spPr>
        <p:txBody>
          <a:bodyPr wrap="square" rtlCol="0" anchor="ctr"/>
          <a:lstStyle/>
          <a:p>
            <a:pPr marL="0" indent="0">
              <a:buNone/>
            </a:pPr>
            <a:r>
              <a:rPr lang="en-US" sz="1050" dirty="0">
                <a:solidFill>
                  <a:srgbClr val="0F172A"/>
                </a:solidFill>
                <a:latin typeface="Calibri" pitchFamily="34" charset="0"/>
                <a:ea typeface="Calibri" pitchFamily="34" charset="-122"/>
                <a:cs typeface="Calibri" pitchFamily="34" charset="-120"/>
              </a:rPr>
              <a:t>•  Live Priority Queue counter — immediate top zones requiring action</a:t>
            </a:r>
            <a:endParaRPr lang="en-US" sz="1050" dirty="0"/>
          </a:p>
        </p:txBody>
      </p:sp>
      <p:sp>
        <p:nvSpPr>
          <p:cNvPr id="8" name="Text 5"/>
          <p:cNvSpPr/>
          <p:nvPr/>
        </p:nvSpPr>
        <p:spPr>
          <a:xfrm>
            <a:off x="5486400" y="2980944"/>
            <a:ext cx="3383280" cy="530352"/>
          </a:xfrm>
          <a:prstGeom prst="rect">
            <a:avLst/>
          </a:prstGeom>
          <a:noFill/>
          <a:ln/>
        </p:spPr>
        <p:txBody>
          <a:bodyPr wrap="square" rtlCol="0" anchor="ctr"/>
          <a:lstStyle/>
          <a:p>
            <a:pPr marL="0" indent="0">
              <a:buNone/>
            </a:pPr>
            <a:r>
              <a:rPr lang="en-US" sz="1050" dirty="0">
                <a:solidFill>
                  <a:srgbClr val="0F172A"/>
                </a:solidFill>
                <a:latin typeface="Calibri" pitchFamily="34" charset="0"/>
                <a:ea typeface="Calibri" pitchFamily="34" charset="-122"/>
                <a:cs typeface="Calibri" pitchFamily="34" charset="-120"/>
              </a:rPr>
              <a:t>•  Command Log Ticker — chronological dispatch events</a:t>
            </a:r>
            <a:endParaRPr lang="en-US" sz="1050" dirty="0"/>
          </a:p>
        </p:txBody>
      </p:sp>
      <p:sp>
        <p:nvSpPr>
          <p:cNvPr id="9" name="Text 6"/>
          <p:cNvSpPr/>
          <p:nvPr/>
        </p:nvSpPr>
        <p:spPr>
          <a:xfrm>
            <a:off x="5486400" y="3547872"/>
            <a:ext cx="3383280" cy="530352"/>
          </a:xfrm>
          <a:prstGeom prst="rect">
            <a:avLst/>
          </a:prstGeom>
          <a:noFill/>
          <a:ln/>
        </p:spPr>
        <p:txBody>
          <a:bodyPr wrap="square" rtlCol="0" anchor="ctr"/>
          <a:lstStyle/>
          <a:p>
            <a:pPr marL="0" indent="0">
              <a:buNone/>
            </a:pPr>
            <a:r>
              <a:rPr lang="en-US" sz="1050" dirty="0">
                <a:solidFill>
                  <a:srgbClr val="0F172A"/>
                </a:solidFill>
                <a:latin typeface="Calibri" pitchFamily="34" charset="0"/>
                <a:ea typeface="Calibri" pitchFamily="34" charset="-122"/>
                <a:cs typeface="Calibri" pitchFamily="34" charset="-120"/>
              </a:rPr>
              <a:t>•  Leaflet map with impact-sized zone markers</a:t>
            </a:r>
            <a:endParaRPr lang="en-US" sz="1050" dirty="0"/>
          </a:p>
        </p:txBody>
      </p:sp>
      <p:sp>
        <p:nvSpPr>
          <p:cNvPr id="10" name="Shape 7"/>
          <p:cNvSpPr/>
          <p:nvPr/>
        </p:nvSpPr>
        <p:spPr>
          <a:xfrm>
            <a:off x="5486400" y="4114800"/>
            <a:ext cx="3383280" cy="777240"/>
          </a:xfrm>
          <a:prstGeom prst="roundRect">
            <a:avLst>
              <a:gd name="adj" fmla="val 7059"/>
            </a:avLst>
          </a:prstGeom>
          <a:solidFill>
            <a:srgbClr val="DBEAFE"/>
          </a:solidFill>
          <a:ln/>
        </p:spPr>
      </p:sp>
      <p:sp>
        <p:nvSpPr>
          <p:cNvPr id="11" name="Text 8"/>
          <p:cNvSpPr/>
          <p:nvPr/>
        </p:nvSpPr>
        <p:spPr>
          <a:xfrm>
            <a:off x="5623560" y="4187952"/>
            <a:ext cx="3108960" cy="228600"/>
          </a:xfrm>
          <a:prstGeom prst="rect">
            <a:avLst/>
          </a:prstGeom>
          <a:noFill/>
          <a:ln/>
        </p:spPr>
        <p:txBody>
          <a:bodyPr wrap="square" rtlCol="0" anchor="ctr"/>
          <a:lstStyle/>
          <a:p>
            <a:pPr marL="0" indent="0">
              <a:buNone/>
            </a:pPr>
            <a:r>
              <a:rPr lang="en-US" sz="900" b="1" kern="0" spc="100" dirty="0">
                <a:solidFill>
                  <a:srgbClr val="1D4ED8"/>
                </a:solidFill>
                <a:latin typeface="Cambria" pitchFamily="34" charset="0"/>
                <a:ea typeface="Cambria" pitchFamily="34" charset="-122"/>
                <a:cs typeface="Cambria" pitchFamily="34" charset="-120"/>
              </a:rPr>
              <a:t>★ THE WOW MOMENT</a:t>
            </a:r>
            <a:endParaRPr lang="en-US" sz="900" dirty="0"/>
          </a:p>
        </p:txBody>
      </p:sp>
      <p:sp>
        <p:nvSpPr>
          <p:cNvPr id="12" name="Text 9"/>
          <p:cNvSpPr/>
          <p:nvPr/>
        </p:nvSpPr>
        <p:spPr>
          <a:xfrm>
            <a:off x="5623560" y="4407408"/>
            <a:ext cx="3108960" cy="457200"/>
          </a:xfrm>
          <a:prstGeom prst="rect">
            <a:avLst/>
          </a:prstGeom>
          <a:noFill/>
          <a:ln/>
        </p:spPr>
        <p:txBody>
          <a:bodyPr wrap="square" rtlCol="0" anchor="ctr"/>
          <a:lstStyle/>
          <a:p>
            <a:pPr marL="0" indent="0">
              <a:buNone/>
            </a:pPr>
            <a:r>
              <a:rPr lang="en-US" sz="900" dirty="0">
                <a:solidFill>
                  <a:srgbClr val="0F172A"/>
                </a:solidFill>
                <a:latin typeface="Calibri" pitchFamily="34" charset="0"/>
                <a:ea typeface="Calibri" pitchFamily="34" charset="-122"/>
                <a:cs typeface="Calibri" pitchFamily="34" charset="-120"/>
              </a:rPr>
              <a:t>A Historical Replay Slider (12 AM–11 PM). Scrub it — clock, map, priority queue, and risk badges all update together, live.</a:t>
            </a:r>
            <a:endParaRPr lang="en-US" sz="900" dirty="0"/>
          </a:p>
        </p:txBody>
      </p:sp>
      <p:sp>
        <p:nvSpPr>
          <p:cNvPr id="13" name="Text 10"/>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4" name="Text 11"/>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DIFFERENTIATION</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Why This Solution Is Different</a:t>
            </a:r>
            <a:endParaRPr lang="en-US" sz="2600" dirty="0"/>
          </a:p>
        </p:txBody>
      </p:sp>
      <p:sp>
        <p:nvSpPr>
          <p:cNvPr id="4" name="Shape 2"/>
          <p:cNvSpPr/>
          <p:nvPr/>
        </p:nvSpPr>
        <p:spPr>
          <a:xfrm>
            <a:off x="365760" y="1234440"/>
            <a:ext cx="8412480" cy="1024128"/>
          </a:xfrm>
          <a:prstGeom prst="roundRect">
            <a:avLst>
              <a:gd name="adj" fmla="val 6250"/>
            </a:avLst>
          </a:prstGeom>
          <a:solidFill>
            <a:srgbClr val="F8FAFC"/>
          </a:solidFill>
          <a:ln w="12700">
            <a:solidFill>
              <a:srgbClr val="E2E8F0"/>
            </a:solidFill>
            <a:prstDash val="solid"/>
          </a:ln>
        </p:spPr>
      </p:sp>
      <p:sp>
        <p:nvSpPr>
          <p:cNvPr id="5" name="Text 3"/>
          <p:cNvSpPr/>
          <p:nvPr/>
        </p:nvSpPr>
        <p:spPr>
          <a:xfrm>
            <a:off x="502920" y="1399032"/>
            <a:ext cx="731520" cy="685800"/>
          </a:xfrm>
          <a:prstGeom prst="rect">
            <a:avLst/>
          </a:prstGeom>
          <a:noFill/>
          <a:ln/>
        </p:spPr>
        <p:txBody>
          <a:bodyPr wrap="square" rtlCol="0" anchor="ctr"/>
          <a:lstStyle/>
          <a:p>
            <a:pPr marL="0" indent="0">
              <a:buNone/>
            </a:pPr>
            <a:r>
              <a:rPr lang="en-US" sz="2600" b="1" dirty="0">
                <a:solidFill>
                  <a:srgbClr val="DC2626"/>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371600" y="1362456"/>
            <a:ext cx="7223760" cy="365760"/>
          </a:xfrm>
          <a:prstGeom prst="rect">
            <a:avLst/>
          </a:prstGeom>
          <a:noFill/>
          <a:ln/>
        </p:spPr>
        <p:txBody>
          <a:bodyPr wrap="square" rtlCol="0" anchor="ctr"/>
          <a:lstStyle/>
          <a:p>
            <a:pPr marL="0" indent="0">
              <a:buNone/>
            </a:pPr>
            <a:r>
              <a:rPr lang="en-US" sz="1450" b="1" dirty="0">
                <a:solidFill>
                  <a:srgbClr val="0F172A"/>
                </a:solidFill>
                <a:latin typeface="Cambria" pitchFamily="34" charset="0"/>
                <a:ea typeface="Cambria" pitchFamily="34" charset="-122"/>
                <a:cs typeface="Cambria" pitchFamily="34" charset="-120"/>
              </a:rPr>
              <a:t>Causal, Not Correlative</a:t>
            </a:r>
            <a:endParaRPr lang="en-US" sz="1450" dirty="0"/>
          </a:p>
        </p:txBody>
      </p:sp>
      <p:sp>
        <p:nvSpPr>
          <p:cNvPr id="7" name="Text 5"/>
          <p:cNvSpPr/>
          <p:nvPr/>
        </p:nvSpPr>
        <p:spPr>
          <a:xfrm>
            <a:off x="1371600" y="1737360"/>
            <a:ext cx="7223760" cy="45720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LWR shockwave theory calculates actual lane capacity lost — not just colored dots on a map.</a:t>
            </a:r>
            <a:endParaRPr lang="en-US" sz="1100" dirty="0"/>
          </a:p>
        </p:txBody>
      </p:sp>
      <p:sp>
        <p:nvSpPr>
          <p:cNvPr id="8" name="Shape 6"/>
          <p:cNvSpPr/>
          <p:nvPr/>
        </p:nvSpPr>
        <p:spPr>
          <a:xfrm>
            <a:off x="365760" y="2423160"/>
            <a:ext cx="8412480" cy="1024128"/>
          </a:xfrm>
          <a:prstGeom prst="roundRect">
            <a:avLst>
              <a:gd name="adj" fmla="val 6250"/>
            </a:avLst>
          </a:prstGeom>
          <a:solidFill>
            <a:srgbClr val="F8FAFC"/>
          </a:solidFill>
          <a:ln w="12700">
            <a:solidFill>
              <a:srgbClr val="E2E8F0"/>
            </a:solidFill>
            <a:prstDash val="solid"/>
          </a:ln>
        </p:spPr>
      </p:sp>
      <p:sp>
        <p:nvSpPr>
          <p:cNvPr id="9" name="Text 7"/>
          <p:cNvSpPr/>
          <p:nvPr/>
        </p:nvSpPr>
        <p:spPr>
          <a:xfrm>
            <a:off x="502920" y="2587752"/>
            <a:ext cx="731520" cy="685800"/>
          </a:xfrm>
          <a:prstGeom prst="rect">
            <a:avLst/>
          </a:prstGeom>
          <a:noFill/>
          <a:ln/>
        </p:spPr>
        <p:txBody>
          <a:bodyPr wrap="square" rtlCol="0" anchor="ctr"/>
          <a:lstStyle/>
          <a:p>
            <a:pPr marL="0" indent="0">
              <a:buNone/>
            </a:pPr>
            <a:r>
              <a:rPr lang="en-US" sz="2600" b="1" dirty="0">
                <a:solidFill>
                  <a:srgbClr val="D97706"/>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1371600" y="2551176"/>
            <a:ext cx="7223760" cy="365760"/>
          </a:xfrm>
          <a:prstGeom prst="rect">
            <a:avLst/>
          </a:prstGeom>
          <a:noFill/>
          <a:ln/>
        </p:spPr>
        <p:txBody>
          <a:bodyPr wrap="square" rtlCol="0" anchor="ctr"/>
          <a:lstStyle/>
          <a:p>
            <a:pPr marL="0" indent="0">
              <a:buNone/>
            </a:pPr>
            <a:r>
              <a:rPr lang="en-US" sz="1450" b="1" dirty="0">
                <a:solidFill>
                  <a:srgbClr val="0F172A"/>
                </a:solidFill>
                <a:latin typeface="Cambria" pitchFamily="34" charset="0"/>
                <a:ea typeface="Cambria" pitchFamily="34" charset="-122"/>
                <a:cs typeface="Cambria" pitchFamily="34" charset="-120"/>
              </a:rPr>
              <a:t>Prescriptive, Not Just Descriptive</a:t>
            </a:r>
            <a:endParaRPr lang="en-US" sz="1450" dirty="0"/>
          </a:p>
        </p:txBody>
      </p:sp>
      <p:sp>
        <p:nvSpPr>
          <p:cNvPr id="11" name="Text 9"/>
          <p:cNvSpPr/>
          <p:nvPr/>
        </p:nvSpPr>
        <p:spPr>
          <a:xfrm>
            <a:off x="1371600" y="2926080"/>
            <a:ext cx="7223760" cy="45720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Knapsack optimization tells the city exactly where to deploy limited tow trucks to maximize ROI.</a:t>
            </a:r>
            <a:endParaRPr lang="en-US" sz="1100" dirty="0"/>
          </a:p>
        </p:txBody>
      </p:sp>
      <p:sp>
        <p:nvSpPr>
          <p:cNvPr id="12" name="Shape 10"/>
          <p:cNvSpPr/>
          <p:nvPr/>
        </p:nvSpPr>
        <p:spPr>
          <a:xfrm>
            <a:off x="365760" y="3611880"/>
            <a:ext cx="8412480" cy="1024128"/>
          </a:xfrm>
          <a:prstGeom prst="roundRect">
            <a:avLst>
              <a:gd name="adj" fmla="val 6250"/>
            </a:avLst>
          </a:prstGeom>
          <a:solidFill>
            <a:srgbClr val="F8FAFC"/>
          </a:solidFill>
          <a:ln w="12700">
            <a:solidFill>
              <a:srgbClr val="E2E8F0"/>
            </a:solidFill>
            <a:prstDash val="solid"/>
          </a:ln>
        </p:spPr>
      </p:sp>
      <p:sp>
        <p:nvSpPr>
          <p:cNvPr id="13" name="Text 11"/>
          <p:cNvSpPr/>
          <p:nvPr/>
        </p:nvSpPr>
        <p:spPr>
          <a:xfrm>
            <a:off x="502920" y="3776472"/>
            <a:ext cx="731520" cy="685800"/>
          </a:xfrm>
          <a:prstGeom prst="rect">
            <a:avLst/>
          </a:prstGeom>
          <a:noFill/>
          <a:ln/>
        </p:spPr>
        <p:txBody>
          <a:bodyPr wrap="square" rtlCol="0" anchor="ctr"/>
          <a:lstStyle/>
          <a:p>
            <a:pPr marL="0" indent="0">
              <a:buNone/>
            </a:pPr>
            <a:r>
              <a:rPr lang="en-US" sz="2600" b="1" dirty="0">
                <a:solidFill>
                  <a:srgbClr val="16A34A"/>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371600" y="3739896"/>
            <a:ext cx="7223760" cy="365760"/>
          </a:xfrm>
          <a:prstGeom prst="rect">
            <a:avLst/>
          </a:prstGeom>
          <a:noFill/>
          <a:ln/>
        </p:spPr>
        <p:txBody>
          <a:bodyPr wrap="square" rtlCol="0" anchor="ctr"/>
          <a:lstStyle/>
          <a:p>
            <a:pPr marL="0" indent="0">
              <a:buNone/>
            </a:pPr>
            <a:r>
              <a:rPr lang="en-US" sz="1450" b="1" dirty="0">
                <a:solidFill>
                  <a:srgbClr val="0F172A"/>
                </a:solidFill>
                <a:latin typeface="Cambria" pitchFamily="34" charset="0"/>
                <a:ea typeface="Cambria" pitchFamily="34" charset="-122"/>
                <a:cs typeface="Cambria" pitchFamily="34" charset="-120"/>
              </a:rPr>
              <a:t>Field-Ready Engineering</a:t>
            </a:r>
            <a:endParaRPr lang="en-US" sz="1450" dirty="0"/>
          </a:p>
        </p:txBody>
      </p:sp>
      <p:sp>
        <p:nvSpPr>
          <p:cNvPr id="15" name="Text 13"/>
          <p:cNvSpPr/>
          <p:nvPr/>
        </p:nvSpPr>
        <p:spPr>
          <a:xfrm>
            <a:off x="1371600" y="4114800"/>
            <a:ext cx="7223760" cy="45720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 production-ready dispatch_schedule.csv feeds directly into a daylight-readable command center — no notebook required in the field.</a:t>
            </a:r>
            <a:endParaRPr lang="en-US" sz="1100" dirty="0"/>
          </a:p>
        </p:txBody>
      </p:sp>
      <p:sp>
        <p:nvSpPr>
          <p:cNvPr id="16" name="Text 14"/>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17" name="Text 15"/>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64592"/>
            <a:ext cx="8229600" cy="228600"/>
          </a:xfrm>
          <a:prstGeom prst="rect">
            <a:avLst/>
          </a:prstGeom>
          <a:noFill/>
          <a:ln/>
        </p:spPr>
        <p:txBody>
          <a:bodyPr wrap="square"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PRODUCTION ARCHITECTURE</a:t>
            </a:r>
            <a:endParaRPr lang="en-US" sz="900" dirty="0"/>
          </a:p>
        </p:txBody>
      </p:sp>
      <p:sp>
        <p:nvSpPr>
          <p:cNvPr id="3" name="Text 1"/>
          <p:cNvSpPr/>
          <p:nvPr/>
        </p:nvSpPr>
        <p:spPr>
          <a:xfrm>
            <a:off x="365760" y="438912"/>
            <a:ext cx="8412480" cy="640080"/>
          </a:xfrm>
          <a:prstGeom prst="rect">
            <a:avLst/>
          </a:prstGeom>
          <a:noFill/>
          <a:ln/>
        </p:spPr>
        <p:txBody>
          <a:bodyPr wrap="square" rtlCol="0" anchor="ctr"/>
          <a:lstStyle/>
          <a:p>
            <a:pPr marL="0" indent="0">
              <a:buNone/>
            </a:pPr>
            <a:r>
              <a:rPr lang="en-US" sz="2600" b="1" dirty="0">
                <a:solidFill>
                  <a:srgbClr val="0F172A"/>
                </a:solidFill>
                <a:latin typeface="Cambria" pitchFamily="34" charset="0"/>
                <a:ea typeface="Cambria" pitchFamily="34" charset="-122"/>
                <a:cs typeface="Cambria" pitchFamily="34" charset="-120"/>
              </a:rPr>
              <a:t>Built to Scale, Not Just Demo</a:t>
            </a:r>
            <a:endParaRPr lang="en-US" sz="2600" dirty="0"/>
          </a:p>
        </p:txBody>
      </p:sp>
      <p:sp>
        <p:nvSpPr>
          <p:cNvPr id="5" name="Text 2"/>
          <p:cNvSpPr/>
          <p:nvPr/>
        </p:nvSpPr>
        <p:spPr>
          <a:xfrm>
            <a:off x="365760" y="5029200"/>
            <a:ext cx="5486400" cy="22860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Flipkart Gridlock 2.0  ·  PS1  ·  AI Parking Intelligence</a:t>
            </a:r>
            <a:endParaRPr lang="en-US" sz="800" dirty="0"/>
          </a:p>
        </p:txBody>
      </p:sp>
      <p:sp>
        <p:nvSpPr>
          <p:cNvPr id="6" name="Text 3"/>
          <p:cNvSpPr/>
          <p:nvPr/>
        </p:nvSpPr>
        <p:spPr>
          <a:xfrm>
            <a:off x="8412480" y="5029200"/>
            <a:ext cx="365760" cy="228600"/>
          </a:xfrm>
          <a:prstGeom prst="rect">
            <a:avLst/>
          </a:prstGeom>
          <a:noFill/>
          <a:ln/>
        </p:spPr>
        <p:txBody>
          <a:bodyPr wrap="square"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12</a:t>
            </a:r>
            <a:endParaRPr lang="en-US" sz="800" dirty="0"/>
          </a:p>
        </p:txBody>
      </p:sp>
      <p:pic>
        <p:nvPicPr>
          <p:cNvPr id="10" name="Picture 9">
            <a:extLst>
              <a:ext uri="{FF2B5EF4-FFF2-40B4-BE49-F238E27FC236}">
                <a16:creationId xmlns:a16="http://schemas.microsoft.com/office/drawing/2014/main" id="{B630E2B5-23F0-EB5C-12E1-FCCC76E7DD1F}"/>
              </a:ext>
            </a:extLst>
          </p:cNvPr>
          <p:cNvPicPr>
            <a:picLocks noChangeAspect="1"/>
          </p:cNvPicPr>
          <p:nvPr/>
        </p:nvPicPr>
        <p:blipFill>
          <a:blip r:embed="rId3"/>
          <a:stretch>
            <a:fillRect/>
          </a:stretch>
        </p:blipFill>
        <p:spPr>
          <a:xfrm>
            <a:off x="659674" y="981346"/>
            <a:ext cx="7752806" cy="38764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8072"/>
          </a:xfrm>
          <a:prstGeom prst="rect">
            <a:avLst/>
          </a:prstGeom>
          <a:solidFill>
            <a:srgbClr val="1D4ED8"/>
          </a:solidFill>
          <a:ln/>
        </p:spPr>
      </p:sp>
      <p:sp>
        <p:nvSpPr>
          <p:cNvPr id="3" name="Text 1"/>
          <p:cNvSpPr/>
          <p:nvPr/>
        </p:nvSpPr>
        <p:spPr>
          <a:xfrm>
            <a:off x="548640" y="502920"/>
            <a:ext cx="8229600" cy="365760"/>
          </a:xfrm>
          <a:prstGeom prst="rect">
            <a:avLst/>
          </a:prstGeom>
          <a:noFill/>
          <a:ln/>
        </p:spPr>
        <p:txBody>
          <a:bodyPr wrap="square" rtlCol="0" anchor="ctr"/>
          <a:lstStyle/>
          <a:p>
            <a:pPr marL="0" indent="0">
              <a:buNone/>
            </a:pPr>
            <a:r>
              <a:rPr lang="en-US" sz="1300" b="1" kern="0" spc="300" dirty="0">
                <a:solidFill>
                  <a:srgbClr val="1D4ED8"/>
                </a:solidFill>
                <a:latin typeface="Calibri" pitchFamily="34" charset="0"/>
                <a:ea typeface="Calibri" pitchFamily="34" charset="-122"/>
                <a:cs typeface="Calibri" pitchFamily="34" charset="-120"/>
              </a:rPr>
              <a:t>What We Delivered</a:t>
            </a:r>
            <a:endParaRPr lang="en-US" sz="1300" dirty="0"/>
          </a:p>
        </p:txBody>
      </p:sp>
      <p:sp>
        <p:nvSpPr>
          <p:cNvPr id="4" name="Shape 2"/>
          <p:cNvSpPr/>
          <p:nvPr/>
        </p:nvSpPr>
        <p:spPr>
          <a:xfrm>
            <a:off x="548640" y="1005840"/>
            <a:ext cx="2606040" cy="1920240"/>
          </a:xfrm>
          <a:prstGeom prst="roundRect">
            <a:avLst>
              <a:gd name="adj" fmla="val 3810"/>
            </a:avLst>
          </a:prstGeom>
          <a:solidFill>
            <a:srgbClr val="F8FAFC"/>
          </a:solidFill>
          <a:ln w="12700">
            <a:solidFill>
              <a:srgbClr val="E2E8F0"/>
            </a:solidFill>
            <a:prstDash val="solid"/>
          </a:ln>
        </p:spPr>
      </p:sp>
      <p:sp>
        <p:nvSpPr>
          <p:cNvPr id="5" name="Text 3"/>
          <p:cNvSpPr/>
          <p:nvPr/>
        </p:nvSpPr>
        <p:spPr>
          <a:xfrm>
            <a:off x="548640" y="1143000"/>
            <a:ext cx="2606040" cy="502920"/>
          </a:xfrm>
          <a:prstGeom prst="rect">
            <a:avLst/>
          </a:prstGeom>
          <a:noFill/>
          <a:ln/>
        </p:spPr>
        <p:txBody>
          <a:bodyPr wrap="square" rtlCol="0" anchor="ctr"/>
          <a:lstStyle/>
          <a:p>
            <a:pPr marL="0" indent="0" algn="ctr">
              <a:buNone/>
            </a:pPr>
            <a:r>
              <a:rPr lang="en-US" sz="2200" dirty="0">
                <a:solidFill>
                  <a:srgbClr val="1D4ED8"/>
                </a:solidFill>
              </a:rPr>
              <a:t>◎</a:t>
            </a:r>
            <a:endParaRPr lang="en-US" sz="2200" dirty="0"/>
          </a:p>
        </p:txBody>
      </p:sp>
      <p:sp>
        <p:nvSpPr>
          <p:cNvPr id="6" name="Text 4"/>
          <p:cNvSpPr/>
          <p:nvPr/>
        </p:nvSpPr>
        <p:spPr>
          <a:xfrm>
            <a:off x="548640" y="1645920"/>
            <a:ext cx="2606040" cy="320040"/>
          </a:xfrm>
          <a:prstGeom prst="rect">
            <a:avLst/>
          </a:prstGeom>
          <a:noFill/>
          <a:ln/>
        </p:spPr>
        <p:txBody>
          <a:bodyPr wrap="square" rtlCol="0" anchor="ctr"/>
          <a:lstStyle/>
          <a:p>
            <a:pPr marL="0" indent="0" algn="ctr">
              <a:buNone/>
            </a:pPr>
            <a:r>
              <a:rPr lang="en-US" sz="1300" b="1" dirty="0">
                <a:solidFill>
                  <a:srgbClr val="0F172A"/>
                </a:solidFill>
                <a:latin typeface="Cambria" pitchFamily="34" charset="0"/>
                <a:ea typeface="Cambria" pitchFamily="34" charset="-122"/>
                <a:cs typeface="Cambria" pitchFamily="34" charset="-120"/>
              </a:rPr>
              <a:t>DETECT</a:t>
            </a:r>
            <a:endParaRPr lang="en-US" sz="1300" dirty="0"/>
          </a:p>
        </p:txBody>
      </p:sp>
      <p:sp>
        <p:nvSpPr>
          <p:cNvPr id="7" name="Text 5"/>
          <p:cNvSpPr/>
          <p:nvPr/>
        </p:nvSpPr>
        <p:spPr>
          <a:xfrm>
            <a:off x="685800" y="1993392"/>
            <a:ext cx="2331720" cy="8229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312 hotspots via HDBSCAN spatial clustering</a:t>
            </a:r>
            <a:endParaRPr lang="en-US" sz="950" dirty="0"/>
          </a:p>
        </p:txBody>
      </p:sp>
      <p:sp>
        <p:nvSpPr>
          <p:cNvPr id="8" name="Shape 6"/>
          <p:cNvSpPr/>
          <p:nvPr/>
        </p:nvSpPr>
        <p:spPr>
          <a:xfrm>
            <a:off x="3337560" y="1005840"/>
            <a:ext cx="2606040" cy="1920240"/>
          </a:xfrm>
          <a:prstGeom prst="roundRect">
            <a:avLst>
              <a:gd name="adj" fmla="val 3810"/>
            </a:avLst>
          </a:prstGeom>
          <a:solidFill>
            <a:srgbClr val="F8FAFC"/>
          </a:solidFill>
          <a:ln w="12700">
            <a:solidFill>
              <a:srgbClr val="E2E8F0"/>
            </a:solidFill>
            <a:prstDash val="solid"/>
          </a:ln>
        </p:spPr>
      </p:sp>
      <p:sp>
        <p:nvSpPr>
          <p:cNvPr id="9" name="Text 7"/>
          <p:cNvSpPr/>
          <p:nvPr/>
        </p:nvSpPr>
        <p:spPr>
          <a:xfrm>
            <a:off x="3337560" y="1143000"/>
            <a:ext cx="2606040" cy="502920"/>
          </a:xfrm>
          <a:prstGeom prst="rect">
            <a:avLst/>
          </a:prstGeom>
          <a:noFill/>
          <a:ln/>
        </p:spPr>
        <p:txBody>
          <a:bodyPr wrap="square" rtlCol="0" anchor="ctr"/>
          <a:lstStyle/>
          <a:p>
            <a:pPr marL="0" indent="0" algn="ctr">
              <a:buNone/>
            </a:pPr>
            <a:r>
              <a:rPr lang="en-US" sz="2200" dirty="0">
                <a:solidFill>
                  <a:srgbClr val="1D4ED8"/>
                </a:solidFill>
              </a:rPr>
              <a:t>◷</a:t>
            </a:r>
            <a:endParaRPr lang="en-US" sz="2200" dirty="0"/>
          </a:p>
        </p:txBody>
      </p:sp>
      <p:sp>
        <p:nvSpPr>
          <p:cNvPr id="10" name="Text 8"/>
          <p:cNvSpPr/>
          <p:nvPr/>
        </p:nvSpPr>
        <p:spPr>
          <a:xfrm>
            <a:off x="3337560" y="1645920"/>
            <a:ext cx="2606040" cy="320040"/>
          </a:xfrm>
          <a:prstGeom prst="rect">
            <a:avLst/>
          </a:prstGeom>
          <a:noFill/>
          <a:ln/>
        </p:spPr>
        <p:txBody>
          <a:bodyPr wrap="square" rtlCol="0" anchor="ctr"/>
          <a:lstStyle/>
          <a:p>
            <a:pPr marL="0" indent="0" algn="ctr">
              <a:buNone/>
            </a:pPr>
            <a:r>
              <a:rPr lang="en-US" sz="1300" b="1" dirty="0">
                <a:solidFill>
                  <a:srgbClr val="0F172A"/>
                </a:solidFill>
                <a:latin typeface="Cambria" pitchFamily="34" charset="0"/>
                <a:ea typeface="Cambria" pitchFamily="34" charset="-122"/>
                <a:cs typeface="Cambria" pitchFamily="34" charset="-120"/>
              </a:rPr>
              <a:t>QUANTIFY</a:t>
            </a:r>
            <a:endParaRPr lang="en-US" sz="1300" dirty="0"/>
          </a:p>
        </p:txBody>
      </p:sp>
      <p:sp>
        <p:nvSpPr>
          <p:cNvPr id="11" name="Text 9"/>
          <p:cNvSpPr/>
          <p:nvPr/>
        </p:nvSpPr>
        <p:spPr>
          <a:xfrm>
            <a:off x="3474720" y="1993392"/>
            <a:ext cx="2331720" cy="8229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Physics-based capacity loss + 1-3h XGBoost forecast</a:t>
            </a:r>
            <a:endParaRPr lang="en-US" sz="950" dirty="0"/>
          </a:p>
        </p:txBody>
      </p:sp>
      <p:sp>
        <p:nvSpPr>
          <p:cNvPr id="12" name="Shape 10"/>
          <p:cNvSpPr/>
          <p:nvPr/>
        </p:nvSpPr>
        <p:spPr>
          <a:xfrm>
            <a:off x="6126480" y="1005840"/>
            <a:ext cx="2606040" cy="1920240"/>
          </a:xfrm>
          <a:prstGeom prst="roundRect">
            <a:avLst>
              <a:gd name="adj" fmla="val 3810"/>
            </a:avLst>
          </a:prstGeom>
          <a:solidFill>
            <a:srgbClr val="F8FAFC"/>
          </a:solidFill>
          <a:ln w="12700">
            <a:solidFill>
              <a:srgbClr val="E2E8F0"/>
            </a:solidFill>
            <a:prstDash val="solid"/>
          </a:ln>
        </p:spPr>
      </p:sp>
      <p:sp>
        <p:nvSpPr>
          <p:cNvPr id="13" name="Text 11"/>
          <p:cNvSpPr/>
          <p:nvPr/>
        </p:nvSpPr>
        <p:spPr>
          <a:xfrm>
            <a:off x="6126480" y="1143000"/>
            <a:ext cx="2606040" cy="502920"/>
          </a:xfrm>
          <a:prstGeom prst="rect">
            <a:avLst/>
          </a:prstGeom>
          <a:noFill/>
          <a:ln/>
        </p:spPr>
        <p:txBody>
          <a:bodyPr wrap="square" rtlCol="0" anchor="ctr"/>
          <a:lstStyle/>
          <a:p>
            <a:pPr marL="0" indent="0" algn="ctr">
              <a:buNone/>
            </a:pPr>
            <a:r>
              <a:rPr lang="en-US" sz="2200" dirty="0">
                <a:solidFill>
                  <a:srgbClr val="1D4ED8"/>
                </a:solidFill>
              </a:rPr>
              <a:t>▤</a:t>
            </a:r>
            <a:endParaRPr lang="en-US" sz="2200" dirty="0"/>
          </a:p>
        </p:txBody>
      </p:sp>
      <p:sp>
        <p:nvSpPr>
          <p:cNvPr id="14" name="Text 12"/>
          <p:cNvSpPr/>
          <p:nvPr/>
        </p:nvSpPr>
        <p:spPr>
          <a:xfrm>
            <a:off x="6126480" y="1645920"/>
            <a:ext cx="2606040" cy="320040"/>
          </a:xfrm>
          <a:prstGeom prst="rect">
            <a:avLst/>
          </a:prstGeom>
          <a:noFill/>
          <a:ln/>
        </p:spPr>
        <p:txBody>
          <a:bodyPr wrap="square" rtlCol="0" anchor="ctr"/>
          <a:lstStyle/>
          <a:p>
            <a:pPr marL="0" indent="0" algn="ctr">
              <a:buNone/>
            </a:pPr>
            <a:r>
              <a:rPr lang="en-US" sz="1300" b="1" dirty="0">
                <a:solidFill>
                  <a:srgbClr val="0F172A"/>
                </a:solidFill>
                <a:latin typeface="Cambria" pitchFamily="34" charset="0"/>
                <a:ea typeface="Cambria" pitchFamily="34" charset="-122"/>
                <a:cs typeface="Cambria" pitchFamily="34" charset="-120"/>
              </a:rPr>
              <a:t>PRESCRIBE</a:t>
            </a:r>
            <a:endParaRPr lang="en-US" sz="1300" dirty="0"/>
          </a:p>
        </p:txBody>
      </p:sp>
      <p:sp>
        <p:nvSpPr>
          <p:cNvPr id="15" name="Text 13"/>
          <p:cNvSpPr/>
          <p:nvPr/>
        </p:nvSpPr>
        <p:spPr>
          <a:xfrm>
            <a:off x="6263640" y="1993392"/>
            <a:ext cx="2331720" cy="8229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Knapsack-optimized dispatch + live command center</a:t>
            </a:r>
            <a:endParaRPr lang="en-US" sz="950" dirty="0"/>
          </a:p>
        </p:txBody>
      </p:sp>
      <p:sp>
        <p:nvSpPr>
          <p:cNvPr id="16" name="Text 14"/>
          <p:cNvSpPr/>
          <p:nvPr/>
        </p:nvSpPr>
        <p:spPr>
          <a:xfrm>
            <a:off x="548640" y="3108960"/>
            <a:ext cx="8229600" cy="365760"/>
          </a:xfrm>
          <a:prstGeom prst="rect">
            <a:avLst/>
          </a:prstGeom>
          <a:noFill/>
          <a:ln/>
        </p:spPr>
        <p:txBody>
          <a:bodyPr wrap="square" rtlCol="0" anchor="ctr"/>
          <a:lstStyle/>
          <a:p>
            <a:pPr marL="0" indent="0" algn="ctr">
              <a:buNone/>
            </a:pPr>
            <a:r>
              <a:rPr lang="en-US" sz="1500" i="1" dirty="0">
                <a:solidFill>
                  <a:srgbClr val="0F172A"/>
                </a:solidFill>
                <a:latin typeface="Cambria" pitchFamily="34" charset="0"/>
                <a:ea typeface="Cambria" pitchFamily="34" charset="-122"/>
                <a:cs typeface="Cambria" pitchFamily="34" charset="-120"/>
              </a:rPr>
              <a:t>Illegal parking in Bengaluru is chronic, physically quantifiable, and costly.</a:t>
            </a:r>
            <a:endParaRPr lang="en-US" sz="1500" dirty="0"/>
          </a:p>
        </p:txBody>
      </p:sp>
      <p:sp>
        <p:nvSpPr>
          <p:cNvPr id="17" name="Text 15"/>
          <p:cNvSpPr/>
          <p:nvPr/>
        </p:nvSpPr>
        <p:spPr>
          <a:xfrm>
            <a:off x="548640" y="3520440"/>
            <a:ext cx="8229600" cy="411480"/>
          </a:xfrm>
          <a:prstGeom prst="rect">
            <a:avLst/>
          </a:prstGeom>
          <a:noFill/>
          <a:ln/>
        </p:spPr>
        <p:txBody>
          <a:bodyPr wrap="square" rtlCol="0" anchor="ctr"/>
          <a:lstStyle/>
          <a:p>
            <a:pPr marL="0" indent="0" algn="ctr">
              <a:buNone/>
            </a:pPr>
            <a:r>
              <a:rPr lang="en-US" sz="1300" dirty="0">
                <a:solidFill>
                  <a:srgbClr val="0891B2"/>
                </a:solidFill>
                <a:latin typeface="Calibri" pitchFamily="34" charset="0"/>
                <a:ea typeface="Calibri" pitchFamily="34" charset="-122"/>
                <a:cs typeface="Calibri" pitchFamily="34" charset="-120"/>
              </a:rPr>
              <a:t>With causal AI and prescriptive dispatch, BTP can cut 10.5% of city-wide congestion impact by acting on just 5 zones.</a:t>
            </a:r>
            <a:endParaRPr lang="en-US" sz="1300" dirty="0"/>
          </a:p>
        </p:txBody>
      </p:sp>
      <p:sp>
        <p:nvSpPr>
          <p:cNvPr id="18" name="Text 16"/>
          <p:cNvSpPr/>
          <p:nvPr/>
        </p:nvSpPr>
        <p:spPr>
          <a:xfrm>
            <a:off x="548640" y="4617720"/>
            <a:ext cx="8229600" cy="27432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Built with HDBSCAN  ·  Greenshields &amp; LWR Physics  ·  XGBoost  ·  SHAP  ·  0-1 Knapsack  ·  Leaflet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1383</Words>
  <Application>Microsoft Office PowerPoint</Application>
  <PresentationFormat>On-screen Show (16:9)</PresentationFormat>
  <Paragraphs>215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Flipkart Gridlock 2.0 — AI Parking Intelligence</dc:title>
  <dc:subject>PptxGenJS Presentation</dc:subject>
  <dc:creator>Team Submission</dc:creator>
  <cp:lastModifiedBy>Harshit Kulkarni</cp:lastModifiedBy>
  <cp:revision>2</cp:revision>
  <dcterms:created xsi:type="dcterms:W3CDTF">2026-06-18T08:21:46Z</dcterms:created>
  <dcterms:modified xsi:type="dcterms:W3CDTF">2026-06-18T08:25:17Z</dcterms:modified>
</cp:coreProperties>
</file>